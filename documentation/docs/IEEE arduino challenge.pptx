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Garet Bold" charset="1" panose="00000000000000000000"/>
      <p:regular r:id="rId15"/>
    </p:embeddedFont>
    <p:embeddedFont>
      <p:font typeface="Garet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jpe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2.jpeg" Type="http://schemas.openxmlformats.org/officeDocument/2006/relationships/image"/><Relationship Id="rId5" Target="../media/image23.jpeg" Type="http://schemas.openxmlformats.org/officeDocument/2006/relationships/image"/><Relationship Id="rId6" Target="../media/image24.jpeg" Type="http://schemas.openxmlformats.org/officeDocument/2006/relationships/image"/><Relationship Id="rId7" Target="../media/image2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jpe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3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B7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76537" y="5826118"/>
            <a:ext cx="4140129" cy="4460882"/>
          </a:xfrm>
          <a:custGeom>
            <a:avLst/>
            <a:gdLst/>
            <a:ahLst/>
            <a:cxnLst/>
            <a:rect r="r" b="b" t="t" l="l"/>
            <a:pathLst>
              <a:path h="4460882" w="4140129">
                <a:moveTo>
                  <a:pt x="0" y="0"/>
                </a:moveTo>
                <a:lnTo>
                  <a:pt x="4140129" y="0"/>
                </a:lnTo>
                <a:lnTo>
                  <a:pt x="4140129" y="4460882"/>
                </a:lnTo>
                <a:lnTo>
                  <a:pt x="0" y="44608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4879" t="0" r="-81656" b="-998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40106" y="2015720"/>
            <a:ext cx="5207788" cy="6665969"/>
          </a:xfrm>
          <a:custGeom>
            <a:avLst/>
            <a:gdLst/>
            <a:ahLst/>
            <a:cxnLst/>
            <a:rect r="r" b="b" t="t" l="l"/>
            <a:pathLst>
              <a:path h="6665969" w="5207788">
                <a:moveTo>
                  <a:pt x="0" y="0"/>
                </a:moveTo>
                <a:lnTo>
                  <a:pt x="5207788" y="0"/>
                </a:lnTo>
                <a:lnTo>
                  <a:pt x="5207788" y="6665969"/>
                </a:lnTo>
                <a:lnTo>
                  <a:pt x="0" y="6665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1087" y="3295869"/>
            <a:ext cx="17265826" cy="219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3"/>
              </a:lnSpc>
            </a:pPr>
            <a:r>
              <a:rPr lang="en-US" b="true" sz="10401" spc="-26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2-AXIS SELF-STABILIZING SPOON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11129581" y="-524538"/>
            <a:ext cx="7158419" cy="4742452"/>
          </a:xfrm>
          <a:custGeom>
            <a:avLst/>
            <a:gdLst/>
            <a:ahLst/>
            <a:cxnLst/>
            <a:rect r="r" b="b" t="t" l="l"/>
            <a:pathLst>
              <a:path h="4742452" w="7158419">
                <a:moveTo>
                  <a:pt x="0" y="4742452"/>
                </a:moveTo>
                <a:lnTo>
                  <a:pt x="7158419" y="4742452"/>
                </a:lnTo>
                <a:lnTo>
                  <a:pt x="7158419" y="0"/>
                </a:lnTo>
                <a:lnTo>
                  <a:pt x="0" y="0"/>
                </a:lnTo>
                <a:lnTo>
                  <a:pt x="0" y="4742452"/>
                </a:lnTo>
                <a:close/>
              </a:path>
            </a:pathLst>
          </a:custGeom>
          <a:blipFill>
            <a:blip r:embed="rId5">
              <a:alphaModFix amt="2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5556007"/>
            <a:ext cx="18288000" cy="48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9"/>
              </a:lnSpc>
            </a:pPr>
            <a:r>
              <a:rPr lang="en-US" b="true" sz="3699" spc="-9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ASSISTING PEOPLE WITH PARKINSON’S DISEASE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618509" y="2410236"/>
            <a:ext cx="362271" cy="377858"/>
          </a:xfrm>
          <a:custGeom>
            <a:avLst/>
            <a:gdLst/>
            <a:ahLst/>
            <a:cxnLst/>
            <a:rect r="r" b="b" t="t" l="l"/>
            <a:pathLst>
              <a:path h="377858" w="362271">
                <a:moveTo>
                  <a:pt x="0" y="0"/>
                </a:moveTo>
                <a:lnTo>
                  <a:pt x="362272" y="0"/>
                </a:lnTo>
                <a:lnTo>
                  <a:pt x="362272" y="377858"/>
                </a:lnTo>
                <a:lnTo>
                  <a:pt x="0" y="3778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18559" y="-123925"/>
            <a:ext cx="4817690" cy="2719169"/>
          </a:xfrm>
          <a:custGeom>
            <a:avLst/>
            <a:gdLst/>
            <a:ahLst/>
            <a:cxnLst/>
            <a:rect r="r" b="b" t="t" l="l"/>
            <a:pathLst>
              <a:path h="2719169" w="4817690">
                <a:moveTo>
                  <a:pt x="0" y="0"/>
                </a:moveTo>
                <a:lnTo>
                  <a:pt x="4817690" y="0"/>
                </a:lnTo>
                <a:lnTo>
                  <a:pt x="4817690" y="2719170"/>
                </a:lnTo>
                <a:lnTo>
                  <a:pt x="0" y="2719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18304" t="-134155" r="-96681" b="-9371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1087" y="7799122"/>
            <a:ext cx="7266781" cy="207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1"/>
              </a:lnSpc>
            </a:pPr>
            <a:r>
              <a:rPr lang="en-US" sz="2701" spc="-6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Presented by:</a:t>
            </a:r>
          </a:p>
          <a:p>
            <a:pPr algn="l">
              <a:lnSpc>
                <a:spcPts val="2701"/>
              </a:lnSpc>
            </a:pPr>
            <a:r>
              <a:rPr lang="en-US" sz="2701" spc="-6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TEAM: WeMakeIt</a:t>
            </a:r>
          </a:p>
          <a:p>
            <a:pPr algn="l" marL="583213" indent="-291607" lvl="1">
              <a:lnSpc>
                <a:spcPts val="2701"/>
              </a:lnSpc>
              <a:buFont typeface="Arial"/>
              <a:buChar char="•"/>
            </a:pPr>
            <a:r>
              <a:rPr lang="en-US" sz="2701" spc="-6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Hi</a:t>
            </a:r>
            <a:r>
              <a:rPr lang="en-US" sz="2701" spc="-6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ran Dharmapala</a:t>
            </a:r>
          </a:p>
          <a:p>
            <a:pPr algn="l" marL="583213" indent="-291607" lvl="1">
              <a:lnSpc>
                <a:spcPts val="2701"/>
              </a:lnSpc>
              <a:buFont typeface="Arial"/>
              <a:buChar char="•"/>
            </a:pPr>
            <a:r>
              <a:rPr lang="en-US" sz="2701" spc="-6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Nimesha Nanayakkara</a:t>
            </a:r>
          </a:p>
          <a:p>
            <a:pPr algn="l" marL="583213" indent="-291607" lvl="1">
              <a:lnSpc>
                <a:spcPts val="2701"/>
              </a:lnSpc>
              <a:buFont typeface="Arial"/>
              <a:buChar char="•"/>
            </a:pPr>
            <a:r>
              <a:rPr lang="en-US" sz="2701" spc="-6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Lasindu Viduranga</a:t>
            </a:r>
          </a:p>
          <a:p>
            <a:pPr algn="ctr">
              <a:lnSpc>
                <a:spcPts val="2701"/>
              </a:lnSpc>
              <a:spcBef>
                <a:spcPct val="0"/>
              </a:spcBef>
            </a:pPr>
            <a:r>
              <a:rPr lang="en-US" sz="2701" spc="-6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University of Sri Jayewardenepura, Sri Lanka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B7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470310" y="-123925"/>
            <a:ext cx="4817690" cy="2719169"/>
          </a:xfrm>
          <a:custGeom>
            <a:avLst/>
            <a:gdLst/>
            <a:ahLst/>
            <a:cxnLst/>
            <a:rect r="r" b="b" t="t" l="l"/>
            <a:pathLst>
              <a:path h="2719169" w="4817690">
                <a:moveTo>
                  <a:pt x="4817690" y="0"/>
                </a:moveTo>
                <a:lnTo>
                  <a:pt x="0" y="0"/>
                </a:lnTo>
                <a:lnTo>
                  <a:pt x="0" y="2719170"/>
                </a:lnTo>
                <a:lnTo>
                  <a:pt x="4817690" y="2719170"/>
                </a:lnTo>
                <a:lnTo>
                  <a:pt x="481769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18304" t="-134155" r="-96681" b="-9371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1514" y="3442261"/>
            <a:ext cx="7662332" cy="2899944"/>
            <a:chOff x="0" y="0"/>
            <a:chExt cx="2018063" cy="7637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8063" cy="763771"/>
            </a:xfrm>
            <a:custGeom>
              <a:avLst/>
              <a:gdLst/>
              <a:ahLst/>
              <a:cxnLst/>
              <a:rect r="r" b="b" t="t" l="l"/>
              <a:pathLst>
                <a:path h="763771" w="2018063">
                  <a:moveTo>
                    <a:pt x="18187" y="0"/>
                  </a:moveTo>
                  <a:lnTo>
                    <a:pt x="1999876" y="0"/>
                  </a:lnTo>
                  <a:cubicBezTo>
                    <a:pt x="2009920" y="0"/>
                    <a:pt x="2018063" y="8143"/>
                    <a:pt x="2018063" y="18187"/>
                  </a:cubicBezTo>
                  <a:lnTo>
                    <a:pt x="2018063" y="745584"/>
                  </a:lnTo>
                  <a:cubicBezTo>
                    <a:pt x="2018063" y="755629"/>
                    <a:pt x="2009920" y="763771"/>
                    <a:pt x="1999876" y="763771"/>
                  </a:cubicBezTo>
                  <a:lnTo>
                    <a:pt x="18187" y="763771"/>
                  </a:lnTo>
                  <a:cubicBezTo>
                    <a:pt x="13363" y="763771"/>
                    <a:pt x="8738" y="761855"/>
                    <a:pt x="5327" y="758444"/>
                  </a:cubicBezTo>
                  <a:cubicBezTo>
                    <a:pt x="1916" y="755034"/>
                    <a:pt x="0" y="750408"/>
                    <a:pt x="0" y="745584"/>
                  </a:cubicBezTo>
                  <a:lnTo>
                    <a:pt x="0" y="18187"/>
                  </a:lnTo>
                  <a:cubicBezTo>
                    <a:pt x="0" y="8143"/>
                    <a:pt x="8143" y="0"/>
                    <a:pt x="18187" y="0"/>
                  </a:cubicBezTo>
                  <a:close/>
                </a:path>
              </a:pathLst>
            </a:custGeom>
            <a:solidFill>
              <a:srgbClr val="F7FE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018063" cy="7351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082998" y="-829130"/>
            <a:ext cx="7158419" cy="4742452"/>
          </a:xfrm>
          <a:custGeom>
            <a:avLst/>
            <a:gdLst/>
            <a:ahLst/>
            <a:cxnLst/>
            <a:rect r="r" b="b" t="t" l="l"/>
            <a:pathLst>
              <a:path h="4742452" w="7158419">
                <a:moveTo>
                  <a:pt x="0" y="0"/>
                </a:moveTo>
                <a:lnTo>
                  <a:pt x="7158418" y="0"/>
                </a:lnTo>
                <a:lnTo>
                  <a:pt x="7158418" y="4742452"/>
                </a:lnTo>
                <a:lnTo>
                  <a:pt x="0" y="47424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28320" y="5719687"/>
            <a:ext cx="2152149" cy="2152149"/>
          </a:xfrm>
          <a:custGeom>
            <a:avLst/>
            <a:gdLst/>
            <a:ahLst/>
            <a:cxnLst/>
            <a:rect r="r" b="b" t="t" l="l"/>
            <a:pathLst>
              <a:path h="2152149" w="2152149">
                <a:moveTo>
                  <a:pt x="0" y="0"/>
                </a:moveTo>
                <a:lnTo>
                  <a:pt x="2152149" y="0"/>
                </a:lnTo>
                <a:lnTo>
                  <a:pt x="2152149" y="2152150"/>
                </a:lnTo>
                <a:lnTo>
                  <a:pt x="0" y="2152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823846" y="1276243"/>
            <a:ext cx="9751346" cy="8171486"/>
          </a:xfrm>
          <a:custGeom>
            <a:avLst/>
            <a:gdLst/>
            <a:ahLst/>
            <a:cxnLst/>
            <a:rect r="r" b="b" t="t" l="l"/>
            <a:pathLst>
              <a:path h="8171486" w="9751346">
                <a:moveTo>
                  <a:pt x="0" y="0"/>
                </a:moveTo>
                <a:lnTo>
                  <a:pt x="9751346" y="0"/>
                </a:lnTo>
                <a:lnTo>
                  <a:pt x="9751346" y="8171485"/>
                </a:lnTo>
                <a:lnTo>
                  <a:pt x="0" y="81714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7" t="-18670" r="-128" b="-885"/>
            </a:stretch>
          </a:blipFill>
          <a:ln cap="sq">
            <a:noFill/>
            <a:prstDash val="dash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495048" y="975655"/>
            <a:ext cx="11169253" cy="2051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8000" spc="-20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The Challenge of Parkinson’s Tremors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51989" y="7475799"/>
            <a:ext cx="9966331" cy="1176495"/>
            <a:chOff x="0" y="0"/>
            <a:chExt cx="2624877" cy="3098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24877" cy="309859"/>
            </a:xfrm>
            <a:custGeom>
              <a:avLst/>
              <a:gdLst/>
              <a:ahLst/>
              <a:cxnLst/>
              <a:rect r="r" b="b" t="t" l="l"/>
              <a:pathLst>
                <a:path h="309859" w="2624877">
                  <a:moveTo>
                    <a:pt x="13983" y="0"/>
                  </a:moveTo>
                  <a:lnTo>
                    <a:pt x="2610895" y="0"/>
                  </a:lnTo>
                  <a:cubicBezTo>
                    <a:pt x="2614603" y="0"/>
                    <a:pt x="2618160" y="1473"/>
                    <a:pt x="2620782" y="4095"/>
                  </a:cubicBezTo>
                  <a:cubicBezTo>
                    <a:pt x="2623404" y="6718"/>
                    <a:pt x="2624877" y="10274"/>
                    <a:pt x="2624877" y="13983"/>
                  </a:cubicBezTo>
                  <a:lnTo>
                    <a:pt x="2624877" y="295876"/>
                  </a:lnTo>
                  <a:cubicBezTo>
                    <a:pt x="2624877" y="299585"/>
                    <a:pt x="2623404" y="303141"/>
                    <a:pt x="2620782" y="305763"/>
                  </a:cubicBezTo>
                  <a:cubicBezTo>
                    <a:pt x="2618160" y="308386"/>
                    <a:pt x="2614603" y="309859"/>
                    <a:pt x="2610895" y="309859"/>
                  </a:cubicBezTo>
                  <a:lnTo>
                    <a:pt x="13983" y="309859"/>
                  </a:lnTo>
                  <a:cubicBezTo>
                    <a:pt x="6260" y="309859"/>
                    <a:pt x="0" y="303599"/>
                    <a:pt x="0" y="295876"/>
                  </a:cubicBezTo>
                  <a:lnTo>
                    <a:pt x="0" y="13983"/>
                  </a:lnTo>
                  <a:cubicBezTo>
                    <a:pt x="0" y="10274"/>
                    <a:pt x="1473" y="6718"/>
                    <a:pt x="4095" y="4095"/>
                  </a:cubicBezTo>
                  <a:cubicBezTo>
                    <a:pt x="6718" y="1473"/>
                    <a:pt x="10274" y="0"/>
                    <a:pt x="13983" y="0"/>
                  </a:cubicBezTo>
                  <a:close/>
                </a:path>
              </a:pathLst>
            </a:custGeom>
            <a:solidFill>
              <a:srgbClr val="F7FE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624877" cy="281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61514" y="3654503"/>
            <a:ext cx="6965710" cy="4433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727" indent="-283863" lvl="1">
              <a:lnSpc>
                <a:spcPts val="3944"/>
              </a:lnSpc>
              <a:buFont typeface="Arial"/>
              <a:buChar char="•"/>
            </a:pPr>
            <a:r>
              <a:rPr lang="en-US" b="true" sz="2629" spc="-65">
                <a:solidFill>
                  <a:srgbClr val="1DB7BD"/>
                </a:solidFill>
                <a:latin typeface="Garet Bold"/>
                <a:ea typeface="Garet Bold"/>
                <a:cs typeface="Garet Bold"/>
                <a:sym typeface="Garet Bold"/>
              </a:rPr>
              <a:t>Parkinson’s Disease affects millions,</a:t>
            </a:r>
            <a:r>
              <a:rPr lang="en-US" b="true" sz="2629" spc="-65">
                <a:solidFill>
                  <a:srgbClr val="1DB7BD"/>
                </a:solidFill>
                <a:latin typeface="Garet Bold"/>
                <a:ea typeface="Garet Bold"/>
                <a:cs typeface="Garet Bold"/>
                <a:sym typeface="Garet Bold"/>
              </a:rPr>
              <a:t> leading to unc</a:t>
            </a:r>
            <a:r>
              <a:rPr lang="en-US" b="true" sz="2629" spc="-65">
                <a:solidFill>
                  <a:srgbClr val="1DB7BD"/>
                </a:solidFill>
                <a:latin typeface="Garet Bold"/>
                <a:ea typeface="Garet Bold"/>
                <a:cs typeface="Garet Bold"/>
                <a:sym typeface="Garet Bold"/>
              </a:rPr>
              <a:t>ontrollable hand tremors.</a:t>
            </a:r>
          </a:p>
          <a:p>
            <a:pPr algn="l" marL="567727" indent="-283863" lvl="1">
              <a:lnSpc>
                <a:spcPts val="3944"/>
              </a:lnSpc>
              <a:buFont typeface="Arial"/>
              <a:buChar char="•"/>
            </a:pPr>
            <a:r>
              <a:rPr lang="en-US" b="true" sz="2629" spc="-65">
                <a:solidFill>
                  <a:srgbClr val="1DB7BD"/>
                </a:solidFill>
                <a:latin typeface="Garet Bold"/>
                <a:ea typeface="Garet Bold"/>
                <a:cs typeface="Garet Bold"/>
                <a:sym typeface="Garet Bold"/>
              </a:rPr>
              <a:t>Tremors make basic tasks like eating very difficult.</a:t>
            </a:r>
          </a:p>
          <a:p>
            <a:pPr algn="l">
              <a:lnSpc>
                <a:spcPts val="3944"/>
              </a:lnSpc>
            </a:pPr>
          </a:p>
          <a:p>
            <a:pPr algn="l">
              <a:lnSpc>
                <a:spcPts val="3944"/>
              </a:lnSpc>
            </a:pPr>
          </a:p>
          <a:p>
            <a:pPr algn="l">
              <a:lnSpc>
                <a:spcPts val="3944"/>
              </a:lnSpc>
            </a:pPr>
          </a:p>
          <a:p>
            <a:pPr algn="l">
              <a:lnSpc>
                <a:spcPts val="394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384414" y="7744093"/>
            <a:ext cx="9846243" cy="67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  <a:spcBef>
                <a:spcPct val="0"/>
              </a:spcBef>
            </a:pPr>
            <a:r>
              <a:rPr lang="en-US" b="true" sz="2600" spc="-65">
                <a:solidFill>
                  <a:srgbClr val="1DB7BD"/>
                </a:solidFill>
                <a:latin typeface="Garet Bold"/>
                <a:ea typeface="Garet Bold"/>
                <a:cs typeface="Garet Bold"/>
                <a:sym typeface="Garet Bold"/>
              </a:rPr>
              <a:t>O</a:t>
            </a:r>
            <a:r>
              <a:rPr lang="en-US" b="true" sz="2600" spc="-65">
                <a:solidFill>
                  <a:srgbClr val="1DB7BD"/>
                </a:solidFill>
                <a:latin typeface="Garet Bold"/>
                <a:ea typeface="Garet Bold"/>
                <a:cs typeface="Garet Bold"/>
                <a:sym typeface="Garet Bold"/>
              </a:rPr>
              <a:t>UR GOAL: HELP INDIVIDUALS EAT WITH DIGNITY AND LESS FRUSTRATION.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98965" y="3364443"/>
            <a:ext cx="11702943" cy="7753200"/>
          </a:xfrm>
          <a:custGeom>
            <a:avLst/>
            <a:gdLst/>
            <a:ahLst/>
            <a:cxnLst/>
            <a:rect r="r" b="b" t="t" l="l"/>
            <a:pathLst>
              <a:path h="7753200" w="11702943">
                <a:moveTo>
                  <a:pt x="0" y="0"/>
                </a:moveTo>
                <a:lnTo>
                  <a:pt x="11702943" y="0"/>
                </a:lnTo>
                <a:lnTo>
                  <a:pt x="11702943" y="7753200"/>
                </a:lnTo>
                <a:lnTo>
                  <a:pt x="0" y="7753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72172" y="2438326"/>
            <a:ext cx="4576649" cy="1708160"/>
            <a:chOff x="0" y="0"/>
            <a:chExt cx="1006211" cy="3755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06211" cy="375552"/>
            </a:xfrm>
            <a:custGeom>
              <a:avLst/>
              <a:gdLst/>
              <a:ahLst/>
              <a:cxnLst/>
              <a:rect r="r" b="b" t="t" l="l"/>
              <a:pathLst>
                <a:path h="375552" w="1006211">
                  <a:moveTo>
                    <a:pt x="28757" y="0"/>
                  </a:moveTo>
                  <a:lnTo>
                    <a:pt x="977453" y="0"/>
                  </a:lnTo>
                  <a:cubicBezTo>
                    <a:pt x="985080" y="0"/>
                    <a:pt x="992395" y="3030"/>
                    <a:pt x="997788" y="8423"/>
                  </a:cubicBezTo>
                  <a:cubicBezTo>
                    <a:pt x="1003181" y="13816"/>
                    <a:pt x="1006211" y="21130"/>
                    <a:pt x="1006211" y="28757"/>
                  </a:cubicBezTo>
                  <a:lnTo>
                    <a:pt x="1006211" y="346794"/>
                  </a:lnTo>
                  <a:cubicBezTo>
                    <a:pt x="1006211" y="354421"/>
                    <a:pt x="1003181" y="361736"/>
                    <a:pt x="997788" y="367129"/>
                  </a:cubicBezTo>
                  <a:cubicBezTo>
                    <a:pt x="992395" y="372522"/>
                    <a:pt x="985080" y="375552"/>
                    <a:pt x="977453" y="375552"/>
                  </a:cubicBezTo>
                  <a:lnTo>
                    <a:pt x="28757" y="375552"/>
                  </a:lnTo>
                  <a:cubicBezTo>
                    <a:pt x="21130" y="375552"/>
                    <a:pt x="13816" y="372522"/>
                    <a:pt x="8423" y="367129"/>
                  </a:cubicBezTo>
                  <a:cubicBezTo>
                    <a:pt x="3030" y="361736"/>
                    <a:pt x="0" y="354421"/>
                    <a:pt x="0" y="346794"/>
                  </a:cubicBezTo>
                  <a:lnTo>
                    <a:pt x="0" y="28757"/>
                  </a:lnTo>
                  <a:cubicBezTo>
                    <a:pt x="0" y="21130"/>
                    <a:pt x="3030" y="13816"/>
                    <a:pt x="8423" y="8423"/>
                  </a:cubicBezTo>
                  <a:cubicBezTo>
                    <a:pt x="13816" y="3030"/>
                    <a:pt x="21130" y="0"/>
                    <a:pt x="2875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006211" cy="346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72172" y="4824862"/>
            <a:ext cx="4576649" cy="1708160"/>
            <a:chOff x="0" y="0"/>
            <a:chExt cx="1006211" cy="3755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6211" cy="375552"/>
            </a:xfrm>
            <a:custGeom>
              <a:avLst/>
              <a:gdLst/>
              <a:ahLst/>
              <a:cxnLst/>
              <a:rect r="r" b="b" t="t" l="l"/>
              <a:pathLst>
                <a:path h="375552" w="1006211">
                  <a:moveTo>
                    <a:pt x="28757" y="0"/>
                  </a:moveTo>
                  <a:lnTo>
                    <a:pt x="977453" y="0"/>
                  </a:lnTo>
                  <a:cubicBezTo>
                    <a:pt x="985080" y="0"/>
                    <a:pt x="992395" y="3030"/>
                    <a:pt x="997788" y="8423"/>
                  </a:cubicBezTo>
                  <a:cubicBezTo>
                    <a:pt x="1003181" y="13816"/>
                    <a:pt x="1006211" y="21130"/>
                    <a:pt x="1006211" y="28757"/>
                  </a:cubicBezTo>
                  <a:lnTo>
                    <a:pt x="1006211" y="346794"/>
                  </a:lnTo>
                  <a:cubicBezTo>
                    <a:pt x="1006211" y="354421"/>
                    <a:pt x="1003181" y="361736"/>
                    <a:pt x="997788" y="367129"/>
                  </a:cubicBezTo>
                  <a:cubicBezTo>
                    <a:pt x="992395" y="372522"/>
                    <a:pt x="985080" y="375552"/>
                    <a:pt x="977453" y="375552"/>
                  </a:cubicBezTo>
                  <a:lnTo>
                    <a:pt x="28757" y="375552"/>
                  </a:lnTo>
                  <a:cubicBezTo>
                    <a:pt x="21130" y="375552"/>
                    <a:pt x="13816" y="372522"/>
                    <a:pt x="8423" y="367129"/>
                  </a:cubicBezTo>
                  <a:cubicBezTo>
                    <a:pt x="3030" y="361736"/>
                    <a:pt x="0" y="354421"/>
                    <a:pt x="0" y="346794"/>
                  </a:cubicBezTo>
                  <a:lnTo>
                    <a:pt x="0" y="28757"/>
                  </a:lnTo>
                  <a:cubicBezTo>
                    <a:pt x="0" y="21130"/>
                    <a:pt x="3030" y="13816"/>
                    <a:pt x="8423" y="8423"/>
                  </a:cubicBezTo>
                  <a:cubicBezTo>
                    <a:pt x="13816" y="3030"/>
                    <a:pt x="21130" y="0"/>
                    <a:pt x="2875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006211" cy="346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72172" y="7206230"/>
            <a:ext cx="4576649" cy="1708160"/>
            <a:chOff x="0" y="0"/>
            <a:chExt cx="1006211" cy="3755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6211" cy="375552"/>
            </a:xfrm>
            <a:custGeom>
              <a:avLst/>
              <a:gdLst/>
              <a:ahLst/>
              <a:cxnLst/>
              <a:rect r="r" b="b" t="t" l="l"/>
              <a:pathLst>
                <a:path h="375552" w="1006211">
                  <a:moveTo>
                    <a:pt x="28757" y="0"/>
                  </a:moveTo>
                  <a:lnTo>
                    <a:pt x="977453" y="0"/>
                  </a:lnTo>
                  <a:cubicBezTo>
                    <a:pt x="985080" y="0"/>
                    <a:pt x="992395" y="3030"/>
                    <a:pt x="997788" y="8423"/>
                  </a:cubicBezTo>
                  <a:cubicBezTo>
                    <a:pt x="1003181" y="13816"/>
                    <a:pt x="1006211" y="21130"/>
                    <a:pt x="1006211" y="28757"/>
                  </a:cubicBezTo>
                  <a:lnTo>
                    <a:pt x="1006211" y="346794"/>
                  </a:lnTo>
                  <a:cubicBezTo>
                    <a:pt x="1006211" y="354421"/>
                    <a:pt x="1003181" y="361736"/>
                    <a:pt x="997788" y="367129"/>
                  </a:cubicBezTo>
                  <a:cubicBezTo>
                    <a:pt x="992395" y="372522"/>
                    <a:pt x="985080" y="375552"/>
                    <a:pt x="977453" y="375552"/>
                  </a:cubicBezTo>
                  <a:lnTo>
                    <a:pt x="28757" y="375552"/>
                  </a:lnTo>
                  <a:cubicBezTo>
                    <a:pt x="21130" y="375552"/>
                    <a:pt x="13816" y="372522"/>
                    <a:pt x="8423" y="367129"/>
                  </a:cubicBezTo>
                  <a:cubicBezTo>
                    <a:pt x="3030" y="361736"/>
                    <a:pt x="0" y="354421"/>
                    <a:pt x="0" y="346794"/>
                  </a:cubicBezTo>
                  <a:lnTo>
                    <a:pt x="0" y="28757"/>
                  </a:lnTo>
                  <a:cubicBezTo>
                    <a:pt x="0" y="21130"/>
                    <a:pt x="3030" y="13816"/>
                    <a:pt x="8423" y="8423"/>
                  </a:cubicBezTo>
                  <a:cubicBezTo>
                    <a:pt x="13816" y="3030"/>
                    <a:pt x="21130" y="0"/>
                    <a:pt x="2875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1006211" cy="346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2857524"/>
            <a:ext cx="869764" cy="86976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DB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  <a:r>
                <a:rPr lang="en-US" b="true" sz="2499" spc="-62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5244060"/>
            <a:ext cx="869764" cy="86976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DB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0"/>
                </a:lnSpc>
              </a:pPr>
              <a:r>
                <a:rPr lang="en-US" b="true" sz="2500" spc="-62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7560541"/>
            <a:ext cx="869764" cy="86976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DB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0"/>
                </a:lnSpc>
              </a:pPr>
              <a:r>
                <a:rPr lang="en-US" b="true" sz="2500" spc="-62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3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8452375" y="2438326"/>
            <a:ext cx="6358477" cy="4416070"/>
          </a:xfrm>
          <a:custGeom>
            <a:avLst/>
            <a:gdLst/>
            <a:ahLst/>
            <a:cxnLst/>
            <a:rect r="r" b="b" t="t" l="l"/>
            <a:pathLst>
              <a:path h="4416070" w="6358477">
                <a:moveTo>
                  <a:pt x="0" y="0"/>
                </a:moveTo>
                <a:lnTo>
                  <a:pt x="6358477" y="0"/>
                </a:lnTo>
                <a:lnTo>
                  <a:pt x="6358477" y="4416070"/>
                </a:lnTo>
                <a:lnTo>
                  <a:pt x="0" y="4416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686" t="-1253" r="-18498" b="-136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189765" y="5600479"/>
            <a:ext cx="5583231" cy="4187424"/>
          </a:xfrm>
          <a:custGeom>
            <a:avLst/>
            <a:gdLst/>
            <a:ahLst/>
            <a:cxnLst/>
            <a:rect r="r" b="b" t="t" l="l"/>
            <a:pathLst>
              <a:path h="4187424" w="5583231">
                <a:moveTo>
                  <a:pt x="0" y="0"/>
                </a:moveTo>
                <a:lnTo>
                  <a:pt x="5583231" y="0"/>
                </a:lnTo>
                <a:lnTo>
                  <a:pt x="5583231" y="4187424"/>
                </a:lnTo>
                <a:lnTo>
                  <a:pt x="0" y="41874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0" y="695325"/>
            <a:ext cx="18288000" cy="990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8000" spc="-200">
                <a:solidFill>
                  <a:srgbClr val="00ADB5"/>
                </a:solidFill>
                <a:latin typeface="Garet Bold"/>
                <a:ea typeface="Garet Bold"/>
                <a:cs typeface="Garet Bold"/>
                <a:sym typeface="Garet Bold"/>
              </a:rPr>
              <a:t>OUR ASSISTIVE INNOVATION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01477" y="2973912"/>
            <a:ext cx="3918040" cy="828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6"/>
              </a:lnSpc>
              <a:spcBef>
                <a:spcPct val="0"/>
              </a:spcBef>
            </a:pPr>
            <a:r>
              <a:rPr lang="en-US" sz="2156" spc="-5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156" spc="-5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2-axis self-stabilizing spoon that detects hand tremors.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01477" y="5360448"/>
            <a:ext cx="3918040" cy="828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6"/>
              </a:lnSpc>
              <a:spcBef>
                <a:spcPct val="0"/>
              </a:spcBef>
            </a:pPr>
            <a:r>
              <a:rPr lang="en-US" sz="2156" spc="-5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Au</a:t>
            </a:r>
            <a:r>
              <a:rPr lang="en-US" sz="2156" spc="-5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tomatically counters motion to reduce food spillage.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01477" y="7741816"/>
            <a:ext cx="3918040" cy="55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6"/>
              </a:lnSpc>
              <a:spcBef>
                <a:spcPct val="0"/>
              </a:spcBef>
            </a:pPr>
            <a:r>
              <a:rPr lang="en-US" sz="2156" spc="-5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Aff</a:t>
            </a:r>
            <a:r>
              <a:rPr lang="en-US" sz="2156" spc="-5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ordable, compact, and customizable for real-life use.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B7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8559" y="-123925"/>
            <a:ext cx="4817690" cy="2719169"/>
          </a:xfrm>
          <a:custGeom>
            <a:avLst/>
            <a:gdLst/>
            <a:ahLst/>
            <a:cxnLst/>
            <a:rect r="r" b="b" t="t" l="l"/>
            <a:pathLst>
              <a:path h="2719169" w="4817690">
                <a:moveTo>
                  <a:pt x="0" y="0"/>
                </a:moveTo>
                <a:lnTo>
                  <a:pt x="4817690" y="0"/>
                </a:lnTo>
                <a:lnTo>
                  <a:pt x="4817690" y="2719170"/>
                </a:lnTo>
                <a:lnTo>
                  <a:pt x="0" y="2719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18304" t="-134155" r="-96681" b="-937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25503" y="0"/>
            <a:ext cx="9359118" cy="6200416"/>
          </a:xfrm>
          <a:custGeom>
            <a:avLst/>
            <a:gdLst/>
            <a:ahLst/>
            <a:cxnLst/>
            <a:rect r="r" b="b" t="t" l="l"/>
            <a:pathLst>
              <a:path h="6200416" w="9359118">
                <a:moveTo>
                  <a:pt x="0" y="0"/>
                </a:moveTo>
                <a:lnTo>
                  <a:pt x="9359118" y="0"/>
                </a:lnTo>
                <a:lnTo>
                  <a:pt x="9359118" y="6200416"/>
                </a:lnTo>
                <a:lnTo>
                  <a:pt x="0" y="62004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48832" y="1028700"/>
            <a:ext cx="8791150" cy="9049777"/>
            <a:chOff x="0" y="0"/>
            <a:chExt cx="2315364" cy="23834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15364" cy="2383480"/>
            </a:xfrm>
            <a:custGeom>
              <a:avLst/>
              <a:gdLst/>
              <a:ahLst/>
              <a:cxnLst/>
              <a:rect r="r" b="b" t="t" l="l"/>
              <a:pathLst>
                <a:path h="2383480" w="2315364">
                  <a:moveTo>
                    <a:pt x="15852" y="0"/>
                  </a:moveTo>
                  <a:lnTo>
                    <a:pt x="2299513" y="0"/>
                  </a:lnTo>
                  <a:cubicBezTo>
                    <a:pt x="2303717" y="0"/>
                    <a:pt x="2307749" y="1670"/>
                    <a:pt x="2310722" y="4643"/>
                  </a:cubicBezTo>
                  <a:cubicBezTo>
                    <a:pt x="2313694" y="7616"/>
                    <a:pt x="2315364" y="11648"/>
                    <a:pt x="2315364" y="15852"/>
                  </a:cubicBezTo>
                  <a:lnTo>
                    <a:pt x="2315364" y="2367629"/>
                  </a:lnTo>
                  <a:cubicBezTo>
                    <a:pt x="2315364" y="2376383"/>
                    <a:pt x="2308267" y="2383480"/>
                    <a:pt x="2299513" y="2383480"/>
                  </a:cubicBezTo>
                  <a:lnTo>
                    <a:pt x="15852" y="2383480"/>
                  </a:lnTo>
                  <a:cubicBezTo>
                    <a:pt x="11648" y="2383480"/>
                    <a:pt x="7616" y="2381810"/>
                    <a:pt x="4643" y="2378837"/>
                  </a:cubicBezTo>
                  <a:cubicBezTo>
                    <a:pt x="1670" y="2375865"/>
                    <a:pt x="0" y="2371833"/>
                    <a:pt x="0" y="2367629"/>
                  </a:cubicBezTo>
                  <a:lnTo>
                    <a:pt x="0" y="15852"/>
                  </a:lnTo>
                  <a:cubicBezTo>
                    <a:pt x="0" y="7097"/>
                    <a:pt x="7097" y="0"/>
                    <a:pt x="15852" y="0"/>
                  </a:cubicBezTo>
                  <a:close/>
                </a:path>
              </a:pathLst>
            </a:custGeom>
            <a:solidFill>
              <a:srgbClr val="F7FE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2315364" cy="2354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295265" y="1028700"/>
            <a:ext cx="8734378" cy="9042132"/>
            <a:chOff x="0" y="0"/>
            <a:chExt cx="2300412" cy="2381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00412" cy="2381467"/>
            </a:xfrm>
            <a:custGeom>
              <a:avLst/>
              <a:gdLst/>
              <a:ahLst/>
              <a:cxnLst/>
              <a:rect r="r" b="b" t="t" l="l"/>
              <a:pathLst>
                <a:path h="2381467" w="2300412">
                  <a:moveTo>
                    <a:pt x="15955" y="0"/>
                  </a:moveTo>
                  <a:lnTo>
                    <a:pt x="2284458" y="0"/>
                  </a:lnTo>
                  <a:cubicBezTo>
                    <a:pt x="2288689" y="0"/>
                    <a:pt x="2292747" y="1681"/>
                    <a:pt x="2295739" y="4673"/>
                  </a:cubicBezTo>
                  <a:cubicBezTo>
                    <a:pt x="2298731" y="7665"/>
                    <a:pt x="2300412" y="11723"/>
                    <a:pt x="2300412" y="15955"/>
                  </a:cubicBezTo>
                  <a:lnTo>
                    <a:pt x="2300412" y="2365512"/>
                  </a:lnTo>
                  <a:cubicBezTo>
                    <a:pt x="2300412" y="2374324"/>
                    <a:pt x="2293269" y="2381467"/>
                    <a:pt x="2284458" y="2381467"/>
                  </a:cubicBezTo>
                  <a:lnTo>
                    <a:pt x="15955" y="2381467"/>
                  </a:lnTo>
                  <a:cubicBezTo>
                    <a:pt x="11723" y="2381467"/>
                    <a:pt x="7665" y="2379786"/>
                    <a:pt x="4673" y="2376794"/>
                  </a:cubicBezTo>
                  <a:cubicBezTo>
                    <a:pt x="1681" y="2373802"/>
                    <a:pt x="0" y="2369744"/>
                    <a:pt x="0" y="2365512"/>
                  </a:cubicBezTo>
                  <a:lnTo>
                    <a:pt x="0" y="15955"/>
                  </a:lnTo>
                  <a:cubicBezTo>
                    <a:pt x="0" y="11723"/>
                    <a:pt x="1681" y="7665"/>
                    <a:pt x="4673" y="4673"/>
                  </a:cubicBezTo>
                  <a:cubicBezTo>
                    <a:pt x="7665" y="1681"/>
                    <a:pt x="11723" y="0"/>
                    <a:pt x="15955" y="0"/>
                  </a:cubicBezTo>
                  <a:close/>
                </a:path>
              </a:pathLst>
            </a:custGeom>
            <a:solidFill>
              <a:srgbClr val="F7FE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2300412" cy="2352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872594" y="4674870"/>
            <a:ext cx="3848798" cy="2886598"/>
          </a:xfrm>
          <a:custGeom>
            <a:avLst/>
            <a:gdLst/>
            <a:ahLst/>
            <a:cxnLst/>
            <a:rect r="r" b="b" t="t" l="l"/>
            <a:pathLst>
              <a:path h="2886598" w="3848798">
                <a:moveTo>
                  <a:pt x="0" y="0"/>
                </a:moveTo>
                <a:lnTo>
                  <a:pt x="3848798" y="0"/>
                </a:lnTo>
                <a:lnTo>
                  <a:pt x="3848798" y="2886599"/>
                </a:lnTo>
                <a:lnTo>
                  <a:pt x="0" y="28865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0500" y="4674870"/>
            <a:ext cx="2539571" cy="2539571"/>
          </a:xfrm>
          <a:custGeom>
            <a:avLst/>
            <a:gdLst/>
            <a:ahLst/>
            <a:cxnLst/>
            <a:rect r="r" b="b" t="t" l="l"/>
            <a:pathLst>
              <a:path h="2539571" w="2539571">
                <a:moveTo>
                  <a:pt x="0" y="0"/>
                </a:moveTo>
                <a:lnTo>
                  <a:pt x="2539571" y="0"/>
                </a:lnTo>
                <a:lnTo>
                  <a:pt x="2539571" y="2539571"/>
                </a:lnTo>
                <a:lnTo>
                  <a:pt x="0" y="25395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740415" y="7561469"/>
            <a:ext cx="2132179" cy="2132179"/>
          </a:xfrm>
          <a:custGeom>
            <a:avLst/>
            <a:gdLst/>
            <a:ahLst/>
            <a:cxnLst/>
            <a:rect r="r" b="b" t="t" l="l"/>
            <a:pathLst>
              <a:path h="2132179" w="2132179">
                <a:moveTo>
                  <a:pt x="0" y="0"/>
                </a:moveTo>
                <a:lnTo>
                  <a:pt x="2132179" y="0"/>
                </a:lnTo>
                <a:lnTo>
                  <a:pt x="2132179" y="2132179"/>
                </a:lnTo>
                <a:lnTo>
                  <a:pt x="0" y="21321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745007" y="4062591"/>
            <a:ext cx="7940166" cy="5644962"/>
          </a:xfrm>
          <a:custGeom>
            <a:avLst/>
            <a:gdLst/>
            <a:ahLst/>
            <a:cxnLst/>
            <a:rect r="r" b="b" t="t" l="l"/>
            <a:pathLst>
              <a:path h="5644962" w="7940166">
                <a:moveTo>
                  <a:pt x="0" y="0"/>
                </a:moveTo>
                <a:lnTo>
                  <a:pt x="7940166" y="0"/>
                </a:lnTo>
                <a:lnTo>
                  <a:pt x="7940166" y="5644961"/>
                </a:lnTo>
                <a:lnTo>
                  <a:pt x="0" y="56449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605211" y="1413413"/>
            <a:ext cx="2187840" cy="29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  <a:spcBef>
                <a:spcPct val="0"/>
              </a:spcBef>
            </a:pPr>
            <a:r>
              <a:rPr lang="en-US" b="true" sz="2299" spc="-5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COMPONENTS: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7158" y="1817752"/>
            <a:ext cx="7416037" cy="2857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2" indent="-194311" lvl="1">
              <a:lnSpc>
                <a:spcPts val="3888"/>
              </a:lnSpc>
              <a:buFont typeface="Arial"/>
              <a:buChar char="•"/>
            </a:pPr>
            <a:r>
              <a:rPr lang="en-US" sz="1800" spc="-4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Ardui</a:t>
            </a:r>
            <a:r>
              <a:rPr lang="en-US" sz="1800" spc="-4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 Nano</a:t>
            </a:r>
          </a:p>
          <a:p>
            <a:pPr algn="just" marL="388622" indent="-194311" lvl="1">
              <a:lnSpc>
                <a:spcPts val="3888"/>
              </a:lnSpc>
              <a:buFont typeface="Arial"/>
              <a:buChar char="•"/>
            </a:pPr>
            <a:r>
              <a:rPr lang="en-US" sz="1800" spc="-4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MPU6050 (Gy</a:t>
            </a:r>
            <a:r>
              <a:rPr lang="en-US" sz="1800" spc="-4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roscope + Accelerometer)</a:t>
            </a:r>
          </a:p>
          <a:p>
            <a:pPr algn="just" marL="388622" indent="-194311" lvl="1">
              <a:lnSpc>
                <a:spcPts val="3888"/>
              </a:lnSpc>
              <a:buFont typeface="Arial"/>
              <a:buChar char="•"/>
            </a:pPr>
            <a:r>
              <a:rPr lang="en-US" sz="1800" spc="-4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</a:t>
            </a:r>
            <a:r>
              <a:rPr lang="en-US" sz="1800" spc="-4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× SG90 Servo Motors</a:t>
            </a:r>
          </a:p>
          <a:p>
            <a:pPr algn="just" marL="388622" indent="-194311" lvl="1">
              <a:lnSpc>
                <a:spcPts val="3888"/>
              </a:lnSpc>
              <a:buFont typeface="Arial"/>
              <a:buChar char="•"/>
            </a:pPr>
            <a:r>
              <a:rPr lang="en-US" sz="1800" spc="-4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3D Spoon Structure</a:t>
            </a:r>
          </a:p>
          <a:p>
            <a:pPr algn="just" marL="388622" indent="-194311" lvl="1">
              <a:lnSpc>
                <a:spcPts val="3888"/>
              </a:lnSpc>
              <a:buFont typeface="Arial"/>
              <a:buChar char="•"/>
            </a:pPr>
            <a:r>
              <a:rPr lang="en-US" sz="1800" spc="-4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 × 3.7 V 800mAh Lipo </a:t>
            </a:r>
            <a:r>
              <a:rPr lang="en-US" sz="1800" spc="-4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Batteries + Power Circuit</a:t>
            </a:r>
          </a:p>
          <a:p>
            <a:pPr algn="just">
              <a:lnSpc>
                <a:spcPts val="3888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1908025" y="1413413"/>
            <a:ext cx="3131608" cy="29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  <a:spcBef>
                <a:spcPct val="0"/>
              </a:spcBef>
            </a:pPr>
            <a:r>
              <a:rPr lang="en-US" b="true" sz="2299" spc="-5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</a:t>
            </a:r>
            <a:r>
              <a:rPr lang="en-US" b="true" sz="2299" spc="-5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ORKING PRINCIPLE: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02007" y="1978780"/>
            <a:ext cx="7416037" cy="1399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2" indent="-194311" lvl="1">
              <a:lnSpc>
                <a:spcPts val="3888"/>
              </a:lnSpc>
              <a:buFont typeface="Arial"/>
              <a:buChar char="•"/>
            </a:pPr>
            <a:r>
              <a:rPr lang="en-US" sz="1800" spc="-4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MPU6050 tracks han</a:t>
            </a:r>
            <a:r>
              <a:rPr lang="en-US" sz="1800" spc="-4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 motion (pitch and roll).</a:t>
            </a:r>
          </a:p>
          <a:p>
            <a:pPr algn="just" marL="388622" indent="-194311" lvl="1">
              <a:lnSpc>
                <a:spcPts val="3888"/>
              </a:lnSpc>
              <a:buFont typeface="Arial"/>
              <a:buChar char="•"/>
            </a:pPr>
            <a:r>
              <a:rPr lang="en-US" sz="1800" spc="-4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Arduino processes the data with filtering.</a:t>
            </a:r>
          </a:p>
          <a:p>
            <a:pPr algn="just" marL="388622" indent="-194311" lvl="1">
              <a:lnSpc>
                <a:spcPts val="3888"/>
              </a:lnSpc>
              <a:buFont typeface="Arial"/>
              <a:buChar char="•"/>
            </a:pPr>
            <a:r>
              <a:rPr lang="en-US" sz="1800" spc="-4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Servos move the spoon in opposite directions to stabilize it.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49196" y="320781"/>
            <a:ext cx="9181571" cy="52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b="true" sz="3999" spc="-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Component List &amp; Working Principle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-109034" y="6978221"/>
            <a:ext cx="38487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b="true" sz="1800" spc="-45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Arduin</a:t>
            </a:r>
            <a:r>
              <a:rPr lang="en-US" b="true" sz="1800" spc="-45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 Nano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99131" y="6978221"/>
            <a:ext cx="3848798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b="true" sz="1800" spc="-45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MPU6050 (Gyrosc</a:t>
            </a:r>
            <a:r>
              <a:rPr lang="en-US" b="true" sz="1800" spc="-45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ope + Accelerometer)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49196" y="9012555"/>
            <a:ext cx="38487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b="true" sz="1800" spc="-45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 ×</a:t>
            </a:r>
            <a:r>
              <a:rPr lang="en-US" b="true" sz="1800" spc="-45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SG90 Servo Motors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B7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8559" y="-123925"/>
            <a:ext cx="4817690" cy="2719169"/>
          </a:xfrm>
          <a:custGeom>
            <a:avLst/>
            <a:gdLst/>
            <a:ahLst/>
            <a:cxnLst/>
            <a:rect r="r" b="b" t="t" l="l"/>
            <a:pathLst>
              <a:path h="2719169" w="4817690">
                <a:moveTo>
                  <a:pt x="0" y="0"/>
                </a:moveTo>
                <a:lnTo>
                  <a:pt x="4817690" y="0"/>
                </a:lnTo>
                <a:lnTo>
                  <a:pt x="4817690" y="2719170"/>
                </a:lnTo>
                <a:lnTo>
                  <a:pt x="0" y="2719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18304" t="-134155" r="-96681" b="-937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25503" y="0"/>
            <a:ext cx="9359118" cy="6200416"/>
          </a:xfrm>
          <a:custGeom>
            <a:avLst/>
            <a:gdLst/>
            <a:ahLst/>
            <a:cxnLst/>
            <a:rect r="r" b="b" t="t" l="l"/>
            <a:pathLst>
              <a:path h="6200416" w="9359118">
                <a:moveTo>
                  <a:pt x="0" y="0"/>
                </a:moveTo>
                <a:lnTo>
                  <a:pt x="9359118" y="0"/>
                </a:lnTo>
                <a:lnTo>
                  <a:pt x="9359118" y="6200416"/>
                </a:lnTo>
                <a:lnTo>
                  <a:pt x="0" y="62004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48832" y="1028700"/>
            <a:ext cx="5773841" cy="5171716"/>
            <a:chOff x="0" y="0"/>
            <a:chExt cx="1520682" cy="13620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0682" cy="1362098"/>
            </a:xfrm>
            <a:custGeom>
              <a:avLst/>
              <a:gdLst/>
              <a:ahLst/>
              <a:cxnLst/>
              <a:rect r="r" b="b" t="t" l="l"/>
              <a:pathLst>
                <a:path h="1362098" w="1520682">
                  <a:moveTo>
                    <a:pt x="24136" y="0"/>
                  </a:moveTo>
                  <a:lnTo>
                    <a:pt x="1496547" y="0"/>
                  </a:lnTo>
                  <a:cubicBezTo>
                    <a:pt x="1509877" y="0"/>
                    <a:pt x="1520682" y="10806"/>
                    <a:pt x="1520682" y="24136"/>
                  </a:cubicBezTo>
                  <a:lnTo>
                    <a:pt x="1520682" y="1337963"/>
                  </a:lnTo>
                  <a:cubicBezTo>
                    <a:pt x="1520682" y="1351292"/>
                    <a:pt x="1509877" y="1362098"/>
                    <a:pt x="1496547" y="1362098"/>
                  </a:cubicBezTo>
                  <a:lnTo>
                    <a:pt x="24136" y="1362098"/>
                  </a:lnTo>
                  <a:cubicBezTo>
                    <a:pt x="10806" y="1362098"/>
                    <a:pt x="0" y="1351292"/>
                    <a:pt x="0" y="1337963"/>
                  </a:cubicBezTo>
                  <a:lnTo>
                    <a:pt x="0" y="24136"/>
                  </a:lnTo>
                  <a:cubicBezTo>
                    <a:pt x="0" y="10806"/>
                    <a:pt x="10806" y="0"/>
                    <a:pt x="24136" y="0"/>
                  </a:cubicBezTo>
                  <a:close/>
                </a:path>
              </a:pathLst>
            </a:custGeom>
            <a:solidFill>
              <a:srgbClr val="F7FE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520682" cy="1333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308424" y="320781"/>
            <a:ext cx="5463117" cy="1025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b="true" sz="3999" spc="-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The Science Behind It</a:t>
            </a:r>
          </a:p>
          <a:p>
            <a:pPr algn="ctr">
              <a:lnSpc>
                <a:spcPts val="3999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6346524" y="1028700"/>
            <a:ext cx="5693907" cy="5171716"/>
            <a:chOff x="0" y="0"/>
            <a:chExt cx="1499630" cy="1362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99630" cy="1362098"/>
            </a:xfrm>
            <a:custGeom>
              <a:avLst/>
              <a:gdLst/>
              <a:ahLst/>
              <a:cxnLst/>
              <a:rect r="r" b="b" t="t" l="l"/>
              <a:pathLst>
                <a:path h="1362098" w="1499630">
                  <a:moveTo>
                    <a:pt x="24474" y="0"/>
                  </a:moveTo>
                  <a:lnTo>
                    <a:pt x="1475155" y="0"/>
                  </a:lnTo>
                  <a:cubicBezTo>
                    <a:pt x="1481646" y="0"/>
                    <a:pt x="1487871" y="2579"/>
                    <a:pt x="1492461" y="7168"/>
                  </a:cubicBezTo>
                  <a:cubicBezTo>
                    <a:pt x="1497051" y="11758"/>
                    <a:pt x="1499630" y="17983"/>
                    <a:pt x="1499630" y="24474"/>
                  </a:cubicBezTo>
                  <a:lnTo>
                    <a:pt x="1499630" y="1337624"/>
                  </a:lnTo>
                  <a:cubicBezTo>
                    <a:pt x="1499630" y="1351140"/>
                    <a:pt x="1488672" y="1362098"/>
                    <a:pt x="1475155" y="1362098"/>
                  </a:cubicBezTo>
                  <a:lnTo>
                    <a:pt x="24474" y="1362098"/>
                  </a:lnTo>
                  <a:cubicBezTo>
                    <a:pt x="10958" y="1362098"/>
                    <a:pt x="0" y="1351140"/>
                    <a:pt x="0" y="1337624"/>
                  </a:cubicBezTo>
                  <a:lnTo>
                    <a:pt x="0" y="24474"/>
                  </a:lnTo>
                  <a:cubicBezTo>
                    <a:pt x="0" y="10958"/>
                    <a:pt x="10958" y="0"/>
                    <a:pt x="24474" y="0"/>
                  </a:cubicBezTo>
                  <a:close/>
                </a:path>
              </a:pathLst>
            </a:custGeom>
            <a:solidFill>
              <a:srgbClr val="F7FE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1499630" cy="1333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8832" y="6457591"/>
            <a:ext cx="11791598" cy="3620886"/>
            <a:chOff x="0" y="0"/>
            <a:chExt cx="3105606" cy="9536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05606" cy="953649"/>
            </a:xfrm>
            <a:custGeom>
              <a:avLst/>
              <a:gdLst/>
              <a:ahLst/>
              <a:cxnLst/>
              <a:rect r="r" b="b" t="t" l="l"/>
              <a:pathLst>
                <a:path h="953649" w="3105606">
                  <a:moveTo>
                    <a:pt x="11818" y="0"/>
                  </a:moveTo>
                  <a:lnTo>
                    <a:pt x="3093788" y="0"/>
                  </a:lnTo>
                  <a:cubicBezTo>
                    <a:pt x="3100315" y="0"/>
                    <a:pt x="3105606" y="5291"/>
                    <a:pt x="3105606" y="11818"/>
                  </a:cubicBezTo>
                  <a:lnTo>
                    <a:pt x="3105606" y="941831"/>
                  </a:lnTo>
                  <a:cubicBezTo>
                    <a:pt x="3105606" y="948358"/>
                    <a:pt x="3100315" y="953649"/>
                    <a:pt x="3093788" y="953649"/>
                  </a:cubicBezTo>
                  <a:lnTo>
                    <a:pt x="11818" y="953649"/>
                  </a:lnTo>
                  <a:cubicBezTo>
                    <a:pt x="5291" y="953649"/>
                    <a:pt x="0" y="948358"/>
                    <a:pt x="0" y="941831"/>
                  </a:cubicBezTo>
                  <a:lnTo>
                    <a:pt x="0" y="11818"/>
                  </a:lnTo>
                  <a:cubicBezTo>
                    <a:pt x="0" y="5291"/>
                    <a:pt x="5291" y="0"/>
                    <a:pt x="11818" y="0"/>
                  </a:cubicBezTo>
                  <a:close/>
                </a:path>
              </a:pathLst>
            </a:custGeom>
            <a:solidFill>
              <a:srgbClr val="F7FE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105606" cy="9250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59692" y="2762928"/>
            <a:ext cx="2943650" cy="3147716"/>
          </a:xfrm>
          <a:custGeom>
            <a:avLst/>
            <a:gdLst/>
            <a:ahLst/>
            <a:cxnLst/>
            <a:rect r="r" b="b" t="t" l="l"/>
            <a:pathLst>
              <a:path h="3147716" w="2943650">
                <a:moveTo>
                  <a:pt x="0" y="0"/>
                </a:moveTo>
                <a:lnTo>
                  <a:pt x="2943649" y="0"/>
                </a:lnTo>
                <a:lnTo>
                  <a:pt x="2943649" y="3147716"/>
                </a:lnTo>
                <a:lnTo>
                  <a:pt x="0" y="31477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654576" y="2827140"/>
            <a:ext cx="2978848" cy="2978848"/>
          </a:xfrm>
          <a:custGeom>
            <a:avLst/>
            <a:gdLst/>
            <a:ahLst/>
            <a:cxnLst/>
            <a:rect r="r" b="b" t="t" l="l"/>
            <a:pathLst>
              <a:path h="2978848" w="2978848">
                <a:moveTo>
                  <a:pt x="0" y="0"/>
                </a:moveTo>
                <a:lnTo>
                  <a:pt x="2978848" y="0"/>
                </a:lnTo>
                <a:lnTo>
                  <a:pt x="2978848" y="2978848"/>
                </a:lnTo>
                <a:lnTo>
                  <a:pt x="0" y="29788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153590" y="6457591"/>
            <a:ext cx="3403880" cy="3748826"/>
          </a:xfrm>
          <a:custGeom>
            <a:avLst/>
            <a:gdLst/>
            <a:ahLst/>
            <a:cxnLst/>
            <a:rect r="r" b="b" t="t" l="l"/>
            <a:pathLst>
              <a:path h="3748826" w="3403880">
                <a:moveTo>
                  <a:pt x="0" y="0"/>
                </a:moveTo>
                <a:lnTo>
                  <a:pt x="3403880" y="0"/>
                </a:lnTo>
                <a:lnTo>
                  <a:pt x="3403880" y="3748826"/>
                </a:lnTo>
                <a:lnTo>
                  <a:pt x="0" y="37488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0579" t="0" r="-1867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2326180" y="1028700"/>
            <a:ext cx="5693907" cy="9049777"/>
            <a:chOff x="0" y="0"/>
            <a:chExt cx="1499630" cy="23834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99630" cy="2383480"/>
            </a:xfrm>
            <a:custGeom>
              <a:avLst/>
              <a:gdLst/>
              <a:ahLst/>
              <a:cxnLst/>
              <a:rect r="r" b="b" t="t" l="l"/>
              <a:pathLst>
                <a:path h="2383480" w="1499630">
                  <a:moveTo>
                    <a:pt x="24474" y="0"/>
                  </a:moveTo>
                  <a:lnTo>
                    <a:pt x="1475155" y="0"/>
                  </a:lnTo>
                  <a:cubicBezTo>
                    <a:pt x="1481646" y="0"/>
                    <a:pt x="1487871" y="2579"/>
                    <a:pt x="1492461" y="7168"/>
                  </a:cubicBezTo>
                  <a:cubicBezTo>
                    <a:pt x="1497051" y="11758"/>
                    <a:pt x="1499630" y="17983"/>
                    <a:pt x="1499630" y="24474"/>
                  </a:cubicBezTo>
                  <a:lnTo>
                    <a:pt x="1499630" y="2359006"/>
                  </a:lnTo>
                  <a:cubicBezTo>
                    <a:pt x="1499630" y="2372523"/>
                    <a:pt x="1488672" y="2383480"/>
                    <a:pt x="1475155" y="2383480"/>
                  </a:cubicBezTo>
                  <a:lnTo>
                    <a:pt x="24474" y="2383480"/>
                  </a:lnTo>
                  <a:cubicBezTo>
                    <a:pt x="17983" y="2383480"/>
                    <a:pt x="11758" y="2380902"/>
                    <a:pt x="7168" y="2376312"/>
                  </a:cubicBezTo>
                  <a:cubicBezTo>
                    <a:pt x="2579" y="2371722"/>
                    <a:pt x="0" y="2365497"/>
                    <a:pt x="0" y="2359006"/>
                  </a:cubicBezTo>
                  <a:lnTo>
                    <a:pt x="0" y="24474"/>
                  </a:lnTo>
                  <a:cubicBezTo>
                    <a:pt x="0" y="10958"/>
                    <a:pt x="10958" y="0"/>
                    <a:pt x="24474" y="0"/>
                  </a:cubicBezTo>
                  <a:close/>
                </a:path>
              </a:pathLst>
            </a:custGeom>
            <a:solidFill>
              <a:srgbClr val="F7FE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1499630" cy="2354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2642017" y="2455545"/>
            <a:ext cx="5062234" cy="2848116"/>
          </a:xfrm>
          <a:custGeom>
            <a:avLst/>
            <a:gdLst/>
            <a:ahLst/>
            <a:cxnLst/>
            <a:rect r="r" b="b" t="t" l="l"/>
            <a:pathLst>
              <a:path h="2848116" w="5062234">
                <a:moveTo>
                  <a:pt x="0" y="0"/>
                </a:moveTo>
                <a:lnTo>
                  <a:pt x="5062233" y="0"/>
                </a:lnTo>
                <a:lnTo>
                  <a:pt x="5062233" y="2848116"/>
                </a:lnTo>
                <a:lnTo>
                  <a:pt x="0" y="28481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20116" y="1393930"/>
            <a:ext cx="3631274" cy="29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  <a:spcBef>
                <a:spcPct val="0"/>
              </a:spcBef>
            </a:pPr>
            <a:r>
              <a:rPr lang="en-US" b="true" sz="2299" spc="-5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COMPLEMENTARY FILTER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5150" y="2027302"/>
            <a:ext cx="5241205" cy="428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2" indent="-194311" lvl="1">
              <a:lnSpc>
                <a:spcPts val="3888"/>
              </a:lnSpc>
              <a:buFont typeface="Arial"/>
              <a:buChar char="•"/>
            </a:pPr>
            <a:r>
              <a:rPr lang="en-US" sz="1800" spc="-4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1800" spc="-4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ngle = (1 - α) * Accel + α * Gyro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29484" y="1413413"/>
            <a:ext cx="2727986" cy="29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99"/>
              </a:lnSpc>
              <a:spcBef>
                <a:spcPct val="0"/>
              </a:spcBef>
            </a:pPr>
            <a:r>
              <a:rPr lang="en-US" b="true" sz="2299" spc="-5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</a:t>
            </a:r>
            <a:r>
              <a:rPr lang="en-US" b="true" sz="2299" spc="-5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OTATION THEORY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12248" y="2027302"/>
            <a:ext cx="5241205" cy="428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2" indent="-194311" lvl="1">
              <a:lnSpc>
                <a:spcPts val="3888"/>
              </a:lnSpc>
              <a:buFont typeface="Arial"/>
              <a:buChar char="•"/>
            </a:pPr>
            <a:r>
              <a:rPr lang="en-US" sz="1800" spc="-4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1800" spc="-4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voids gimbal lock.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153892" y="6970795"/>
            <a:ext cx="3675592" cy="29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  <a:spcBef>
                <a:spcPct val="0"/>
              </a:spcBef>
            </a:pPr>
            <a:r>
              <a:rPr lang="en-US" b="true" sz="2299" spc="-5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</a:t>
            </a:r>
            <a:r>
              <a:rPr lang="en-US" b="true" sz="2299" spc="-5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ECHANICAL ISOLATION: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1468" y="7600715"/>
            <a:ext cx="5241205" cy="91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2" indent="-194311" lvl="1">
              <a:lnSpc>
                <a:spcPts val="3888"/>
              </a:lnSpc>
              <a:buFont typeface="Arial"/>
              <a:buChar char="•"/>
            </a:pPr>
            <a:r>
              <a:rPr lang="en-US" sz="1800" spc="-4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Desig</a:t>
            </a:r>
            <a:r>
              <a:rPr lang="en-US" sz="1800" spc="-4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ned to isolate spoon from hand motion using 2-axis articulation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98880" y="1413413"/>
            <a:ext cx="2670175" cy="29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99"/>
              </a:lnSpc>
              <a:spcBef>
                <a:spcPct val="0"/>
              </a:spcBef>
            </a:pPr>
            <a:r>
              <a:rPr lang="en-US" b="true" sz="2299" spc="-5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CIRCUIT DIAGRAM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640210" y="5748719"/>
            <a:ext cx="5064040" cy="323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5485" indent="-187743" lvl="1">
              <a:lnSpc>
                <a:spcPts val="3756"/>
              </a:lnSpc>
              <a:buFont typeface="Arial"/>
              <a:buChar char="•"/>
            </a:pPr>
            <a:r>
              <a:rPr lang="en-US" sz="1739" spc="-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circuit connects an Arduino Nano to an MPU6050 sensor a</a:t>
            </a:r>
            <a:r>
              <a:rPr lang="en-US" sz="1739" spc="-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nd two servo motors, powered by 2 × 3.7V 800mAh Lipo Batteries. The MPU6050 provides motion data, while the servos respond based on sensor input. Ideal for balance or motion-controlled projects.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90625"/>
            <a:ext cx="6158513" cy="1383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3"/>
              </a:lnSpc>
            </a:pPr>
            <a:r>
              <a:rPr lang="en-US" sz="5793" spc="-144" b="true">
                <a:solidFill>
                  <a:srgbClr val="068388"/>
                </a:solidFill>
                <a:latin typeface="Garet Bold"/>
                <a:ea typeface="Garet Bold"/>
                <a:cs typeface="Garet Bold"/>
                <a:sym typeface="Garet Bold"/>
              </a:rPr>
              <a:t>Final Overview</a:t>
            </a:r>
          </a:p>
          <a:p>
            <a:pPr algn="l">
              <a:lnSpc>
                <a:spcPts val="5213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9652943" y="-778558"/>
            <a:ext cx="11702943" cy="7753200"/>
          </a:xfrm>
          <a:custGeom>
            <a:avLst/>
            <a:gdLst/>
            <a:ahLst/>
            <a:cxnLst/>
            <a:rect r="r" b="b" t="t" l="l"/>
            <a:pathLst>
              <a:path h="7753200" w="11702943">
                <a:moveTo>
                  <a:pt x="11702943" y="0"/>
                </a:moveTo>
                <a:lnTo>
                  <a:pt x="0" y="0"/>
                </a:lnTo>
                <a:lnTo>
                  <a:pt x="0" y="7753200"/>
                </a:lnTo>
                <a:lnTo>
                  <a:pt x="11702943" y="7753200"/>
                </a:lnTo>
                <a:lnTo>
                  <a:pt x="11702943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293240"/>
            <a:ext cx="7768718" cy="23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3056" indent="-241528" lvl="1">
              <a:lnSpc>
                <a:spcPts val="3132"/>
              </a:lnSpc>
              <a:buFont typeface="Arial"/>
              <a:buChar char="•"/>
            </a:pPr>
            <a:r>
              <a:rPr lang="en-US" b="true" sz="2237" spc="-55">
                <a:solidFill>
                  <a:srgbClr val="1DB7BD"/>
                </a:solidFill>
                <a:latin typeface="Garet Bold"/>
                <a:ea typeface="Garet Bold"/>
                <a:cs typeface="Garet Bold"/>
                <a:sym typeface="Garet Bold"/>
              </a:rPr>
              <a:t>Provides t</a:t>
            </a:r>
            <a:r>
              <a:rPr lang="en-US" b="true" sz="2237" spc="-55">
                <a:solidFill>
                  <a:srgbClr val="1DB7BD"/>
                </a:solidFill>
                <a:latin typeface="Garet Bold"/>
                <a:ea typeface="Garet Bold"/>
                <a:cs typeface="Garet Bold"/>
                <a:sym typeface="Garet Bold"/>
              </a:rPr>
              <a:t>remor compensation using real-time feedback.</a:t>
            </a:r>
          </a:p>
          <a:p>
            <a:pPr algn="l" marL="483056" indent="-241528" lvl="1">
              <a:lnSpc>
                <a:spcPts val="3132"/>
              </a:lnSpc>
              <a:buFont typeface="Arial"/>
              <a:buChar char="•"/>
            </a:pPr>
            <a:r>
              <a:rPr lang="en-US" b="true" sz="2237" spc="-55">
                <a:solidFill>
                  <a:srgbClr val="1DB7BD"/>
                </a:solidFill>
                <a:latin typeface="Garet Bold"/>
                <a:ea typeface="Garet Bold"/>
                <a:cs typeface="Garet Bold"/>
                <a:sym typeface="Garet Bold"/>
              </a:rPr>
              <a:t>Improv</a:t>
            </a:r>
            <a:r>
              <a:rPr lang="en-US" b="true" sz="2237" spc="-55">
                <a:solidFill>
                  <a:srgbClr val="1DB7BD"/>
                </a:solidFill>
                <a:latin typeface="Garet Bold"/>
                <a:ea typeface="Garet Bold"/>
                <a:cs typeface="Garet Bold"/>
                <a:sym typeface="Garet Bold"/>
              </a:rPr>
              <a:t>es quality of life during meals.</a:t>
            </a:r>
          </a:p>
          <a:p>
            <a:pPr algn="l" marL="483056" indent="-241528" lvl="1">
              <a:lnSpc>
                <a:spcPts val="3132"/>
              </a:lnSpc>
              <a:buFont typeface="Arial"/>
              <a:buChar char="•"/>
            </a:pPr>
            <a:r>
              <a:rPr lang="en-US" b="true" sz="2237" spc="-55">
                <a:solidFill>
                  <a:srgbClr val="1DB7BD"/>
                </a:solidFill>
                <a:latin typeface="Garet Bold"/>
                <a:ea typeface="Garet Bold"/>
                <a:cs typeface="Garet Bold"/>
                <a:sym typeface="Garet Bold"/>
              </a:rPr>
              <a:t>Simple ele</a:t>
            </a:r>
            <a:r>
              <a:rPr lang="en-US" b="true" sz="2237" spc="-55">
                <a:solidFill>
                  <a:srgbClr val="1DB7BD"/>
                </a:solidFill>
                <a:latin typeface="Garet Bold"/>
                <a:ea typeface="Garet Bold"/>
                <a:cs typeface="Garet Bold"/>
                <a:sym typeface="Garet Bold"/>
              </a:rPr>
              <a:t>ctronics + 3D design = practical, low-cost solution.</a:t>
            </a:r>
          </a:p>
          <a:p>
            <a:pPr algn="l">
              <a:lnSpc>
                <a:spcPts val="3132"/>
              </a:lnSpc>
            </a:pPr>
            <a:r>
              <a:rPr lang="en-US" b="true" sz="2237" spc="-55">
                <a:solidFill>
                  <a:srgbClr val="1DB7BD"/>
                </a:solidFill>
                <a:latin typeface="Garet Bold"/>
                <a:ea typeface="Garet Bold"/>
                <a:cs typeface="Garet Bold"/>
                <a:sym typeface="Garet Bold"/>
              </a:rPr>
              <a:t>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301945" y="4964084"/>
            <a:ext cx="2871295" cy="3089184"/>
            <a:chOff x="0" y="0"/>
            <a:chExt cx="384342" cy="4135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342" cy="413508"/>
            </a:xfrm>
            <a:custGeom>
              <a:avLst/>
              <a:gdLst/>
              <a:ahLst/>
              <a:cxnLst/>
              <a:rect r="r" b="b" t="t" l="l"/>
              <a:pathLst>
                <a:path h="413508" w="384342">
                  <a:moveTo>
                    <a:pt x="70104" y="0"/>
                  </a:moveTo>
                  <a:lnTo>
                    <a:pt x="314238" y="0"/>
                  </a:lnTo>
                  <a:cubicBezTo>
                    <a:pt x="352955" y="0"/>
                    <a:pt x="384342" y="31387"/>
                    <a:pt x="384342" y="70104"/>
                  </a:cubicBezTo>
                  <a:lnTo>
                    <a:pt x="384342" y="343403"/>
                  </a:lnTo>
                  <a:cubicBezTo>
                    <a:pt x="384342" y="361996"/>
                    <a:pt x="376956" y="379828"/>
                    <a:pt x="363809" y="392975"/>
                  </a:cubicBezTo>
                  <a:cubicBezTo>
                    <a:pt x="350662" y="406122"/>
                    <a:pt x="332830" y="413508"/>
                    <a:pt x="314238" y="413508"/>
                  </a:cubicBezTo>
                  <a:lnTo>
                    <a:pt x="70104" y="413508"/>
                  </a:lnTo>
                  <a:cubicBezTo>
                    <a:pt x="51511" y="413508"/>
                    <a:pt x="33680" y="406122"/>
                    <a:pt x="20533" y="392975"/>
                  </a:cubicBezTo>
                  <a:cubicBezTo>
                    <a:pt x="7386" y="379828"/>
                    <a:pt x="0" y="361996"/>
                    <a:pt x="0" y="343403"/>
                  </a:cubicBezTo>
                  <a:lnTo>
                    <a:pt x="0" y="70104"/>
                  </a:lnTo>
                  <a:cubicBezTo>
                    <a:pt x="0" y="51511"/>
                    <a:pt x="7386" y="33680"/>
                    <a:pt x="20533" y="20533"/>
                  </a:cubicBezTo>
                  <a:cubicBezTo>
                    <a:pt x="33680" y="7386"/>
                    <a:pt x="51511" y="0"/>
                    <a:pt x="70104" y="0"/>
                  </a:cubicBezTo>
                  <a:close/>
                </a:path>
              </a:pathLst>
            </a:custGeom>
            <a:blipFill>
              <a:blip r:embed="rId4"/>
              <a:stretch>
                <a:fillRect l="-30838" t="0" r="-30838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187213" y="5442301"/>
            <a:ext cx="2871295" cy="3089184"/>
            <a:chOff x="0" y="0"/>
            <a:chExt cx="384342" cy="4135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4342" cy="413508"/>
            </a:xfrm>
            <a:custGeom>
              <a:avLst/>
              <a:gdLst/>
              <a:ahLst/>
              <a:cxnLst/>
              <a:rect r="r" b="b" t="t" l="l"/>
              <a:pathLst>
                <a:path h="413508" w="384342">
                  <a:moveTo>
                    <a:pt x="70104" y="0"/>
                  </a:moveTo>
                  <a:lnTo>
                    <a:pt x="314238" y="0"/>
                  </a:lnTo>
                  <a:cubicBezTo>
                    <a:pt x="352955" y="0"/>
                    <a:pt x="384342" y="31387"/>
                    <a:pt x="384342" y="70104"/>
                  </a:cubicBezTo>
                  <a:lnTo>
                    <a:pt x="384342" y="343403"/>
                  </a:lnTo>
                  <a:cubicBezTo>
                    <a:pt x="384342" y="361996"/>
                    <a:pt x="376956" y="379828"/>
                    <a:pt x="363809" y="392975"/>
                  </a:cubicBezTo>
                  <a:cubicBezTo>
                    <a:pt x="350662" y="406122"/>
                    <a:pt x="332830" y="413508"/>
                    <a:pt x="314238" y="413508"/>
                  </a:cubicBezTo>
                  <a:lnTo>
                    <a:pt x="70104" y="413508"/>
                  </a:lnTo>
                  <a:cubicBezTo>
                    <a:pt x="51511" y="413508"/>
                    <a:pt x="33680" y="406122"/>
                    <a:pt x="20533" y="392975"/>
                  </a:cubicBezTo>
                  <a:cubicBezTo>
                    <a:pt x="7386" y="379828"/>
                    <a:pt x="0" y="361996"/>
                    <a:pt x="0" y="343403"/>
                  </a:cubicBezTo>
                  <a:lnTo>
                    <a:pt x="0" y="70104"/>
                  </a:lnTo>
                  <a:cubicBezTo>
                    <a:pt x="0" y="51511"/>
                    <a:pt x="7386" y="33680"/>
                    <a:pt x="20533" y="20533"/>
                  </a:cubicBezTo>
                  <a:cubicBezTo>
                    <a:pt x="33680" y="7386"/>
                    <a:pt x="51511" y="0"/>
                    <a:pt x="70104" y="0"/>
                  </a:cubicBezTo>
                  <a:close/>
                </a:path>
              </a:pathLst>
            </a:custGeom>
            <a:blipFill>
              <a:blip r:embed="rId5"/>
              <a:stretch>
                <a:fillRect l="-8798" t="0" r="-879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44571" y="3318007"/>
            <a:ext cx="2871295" cy="2904715"/>
            <a:chOff x="0" y="0"/>
            <a:chExt cx="384342" cy="3888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4342" cy="388815"/>
            </a:xfrm>
            <a:custGeom>
              <a:avLst/>
              <a:gdLst/>
              <a:ahLst/>
              <a:cxnLst/>
              <a:rect r="r" b="b" t="t" l="l"/>
              <a:pathLst>
                <a:path h="388815" w="384342">
                  <a:moveTo>
                    <a:pt x="70104" y="0"/>
                  </a:moveTo>
                  <a:lnTo>
                    <a:pt x="314238" y="0"/>
                  </a:lnTo>
                  <a:cubicBezTo>
                    <a:pt x="352955" y="0"/>
                    <a:pt x="384342" y="31387"/>
                    <a:pt x="384342" y="70104"/>
                  </a:cubicBezTo>
                  <a:lnTo>
                    <a:pt x="384342" y="318711"/>
                  </a:lnTo>
                  <a:cubicBezTo>
                    <a:pt x="384342" y="337304"/>
                    <a:pt x="376956" y="355135"/>
                    <a:pt x="363809" y="368282"/>
                  </a:cubicBezTo>
                  <a:cubicBezTo>
                    <a:pt x="350662" y="381429"/>
                    <a:pt x="332830" y="388815"/>
                    <a:pt x="314238" y="388815"/>
                  </a:cubicBezTo>
                  <a:lnTo>
                    <a:pt x="70104" y="388815"/>
                  </a:lnTo>
                  <a:cubicBezTo>
                    <a:pt x="51511" y="388815"/>
                    <a:pt x="33680" y="381429"/>
                    <a:pt x="20533" y="368282"/>
                  </a:cubicBezTo>
                  <a:cubicBezTo>
                    <a:pt x="7386" y="355135"/>
                    <a:pt x="0" y="337304"/>
                    <a:pt x="0" y="318711"/>
                  </a:cubicBezTo>
                  <a:lnTo>
                    <a:pt x="0" y="70104"/>
                  </a:lnTo>
                  <a:cubicBezTo>
                    <a:pt x="0" y="51511"/>
                    <a:pt x="7386" y="33680"/>
                    <a:pt x="20533" y="20533"/>
                  </a:cubicBezTo>
                  <a:cubicBezTo>
                    <a:pt x="33680" y="7386"/>
                    <a:pt x="51511" y="0"/>
                    <a:pt x="70104" y="0"/>
                  </a:cubicBezTo>
                  <a:close/>
                </a:path>
              </a:pathLst>
            </a:custGeom>
            <a:blipFill>
              <a:blip r:embed="rId6"/>
              <a:stretch>
                <a:fillRect l="-50865" t="0" r="-1156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44571" y="6413573"/>
            <a:ext cx="2871295" cy="2904715"/>
            <a:chOff x="0" y="0"/>
            <a:chExt cx="384342" cy="3888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4342" cy="388815"/>
            </a:xfrm>
            <a:custGeom>
              <a:avLst/>
              <a:gdLst/>
              <a:ahLst/>
              <a:cxnLst/>
              <a:rect r="r" b="b" t="t" l="l"/>
              <a:pathLst>
                <a:path h="388815" w="384342">
                  <a:moveTo>
                    <a:pt x="70104" y="0"/>
                  </a:moveTo>
                  <a:lnTo>
                    <a:pt x="314238" y="0"/>
                  </a:lnTo>
                  <a:cubicBezTo>
                    <a:pt x="352955" y="0"/>
                    <a:pt x="384342" y="31387"/>
                    <a:pt x="384342" y="70104"/>
                  </a:cubicBezTo>
                  <a:lnTo>
                    <a:pt x="384342" y="318711"/>
                  </a:lnTo>
                  <a:cubicBezTo>
                    <a:pt x="384342" y="337304"/>
                    <a:pt x="376956" y="355135"/>
                    <a:pt x="363809" y="368282"/>
                  </a:cubicBezTo>
                  <a:cubicBezTo>
                    <a:pt x="350662" y="381429"/>
                    <a:pt x="332830" y="388815"/>
                    <a:pt x="314238" y="388815"/>
                  </a:cubicBezTo>
                  <a:lnTo>
                    <a:pt x="70104" y="388815"/>
                  </a:lnTo>
                  <a:cubicBezTo>
                    <a:pt x="51511" y="388815"/>
                    <a:pt x="33680" y="381429"/>
                    <a:pt x="20533" y="368282"/>
                  </a:cubicBezTo>
                  <a:cubicBezTo>
                    <a:pt x="7386" y="355135"/>
                    <a:pt x="0" y="337304"/>
                    <a:pt x="0" y="318711"/>
                  </a:cubicBezTo>
                  <a:lnTo>
                    <a:pt x="0" y="70104"/>
                  </a:lnTo>
                  <a:cubicBezTo>
                    <a:pt x="0" y="51511"/>
                    <a:pt x="7386" y="33680"/>
                    <a:pt x="20533" y="20533"/>
                  </a:cubicBezTo>
                  <a:cubicBezTo>
                    <a:pt x="33680" y="7386"/>
                    <a:pt x="51511" y="0"/>
                    <a:pt x="70104" y="0"/>
                  </a:cubicBezTo>
                  <a:close/>
                </a:path>
              </a:pathLst>
            </a:custGeom>
            <a:blipFill>
              <a:blip r:embed="rId7"/>
              <a:stretch>
                <a:fillRect l="-40324" t="0" r="-40324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48004" y="4725964"/>
            <a:ext cx="5782281" cy="1434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768" spc="-69" b="true">
                <a:solidFill>
                  <a:srgbClr val="068388"/>
                </a:solidFill>
                <a:latin typeface="Garet Bold"/>
                <a:ea typeface="Garet Bold"/>
                <a:cs typeface="Garet Bold"/>
                <a:sym typeface="Garet Bold"/>
              </a:rPr>
              <a:t>Futu</a:t>
            </a:r>
            <a:r>
              <a:rPr lang="en-US" b="true" sz="2768" spc="-69">
                <a:solidFill>
                  <a:srgbClr val="068388"/>
                </a:solidFill>
                <a:latin typeface="Garet Bold"/>
                <a:ea typeface="Garet Bold"/>
                <a:cs typeface="Garet Bold"/>
                <a:sym typeface="Garet Bold"/>
              </a:rPr>
              <a:t>re plans: Sleeker design, fast</a:t>
            </a:r>
            <a:r>
              <a:rPr lang="en-US" b="true" sz="2768" spc="-69">
                <a:solidFill>
                  <a:srgbClr val="068388"/>
                </a:solidFill>
                <a:latin typeface="Garet Bold"/>
                <a:ea typeface="Garet Bold"/>
                <a:cs typeface="Garet Bold"/>
                <a:sym typeface="Garet Bold"/>
              </a:rPr>
              <a:t>er mo</a:t>
            </a:r>
            <a:r>
              <a:rPr lang="en-US" b="true" sz="2768" spc="-69">
                <a:solidFill>
                  <a:srgbClr val="068388"/>
                </a:solidFill>
                <a:latin typeface="Garet Bold"/>
                <a:ea typeface="Garet Bold"/>
                <a:cs typeface="Garet Bold"/>
                <a:sym typeface="Garet Bold"/>
              </a:rPr>
              <a:t>tors, rechargeable battery.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5777735" y="-1685572"/>
            <a:ext cx="13887243" cy="9200298"/>
          </a:xfrm>
          <a:custGeom>
            <a:avLst/>
            <a:gdLst/>
            <a:ahLst/>
            <a:cxnLst/>
            <a:rect r="r" b="b" t="t" l="l"/>
            <a:pathLst>
              <a:path h="9200298" w="13887243">
                <a:moveTo>
                  <a:pt x="13887242" y="0"/>
                </a:moveTo>
                <a:lnTo>
                  <a:pt x="0" y="0"/>
                </a:lnTo>
                <a:lnTo>
                  <a:pt x="0" y="9200298"/>
                </a:lnTo>
                <a:lnTo>
                  <a:pt x="13887242" y="9200298"/>
                </a:lnTo>
                <a:lnTo>
                  <a:pt x="13887242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53124" y="0"/>
            <a:ext cx="8434876" cy="10344150"/>
            <a:chOff x="0" y="0"/>
            <a:chExt cx="662777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777" cy="812800"/>
            </a:xfrm>
            <a:custGeom>
              <a:avLst/>
              <a:gdLst/>
              <a:ahLst/>
              <a:cxnLst/>
              <a:rect r="r" b="b" t="t" l="l"/>
              <a:pathLst>
                <a:path h="812800" w="662777">
                  <a:moveTo>
                    <a:pt x="0" y="0"/>
                  </a:moveTo>
                  <a:lnTo>
                    <a:pt x="662777" y="0"/>
                  </a:lnTo>
                  <a:lnTo>
                    <a:pt x="66277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59141" t="0" r="-59141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730418" y="4035269"/>
            <a:ext cx="20837156" cy="12241829"/>
          </a:xfrm>
          <a:custGeom>
            <a:avLst/>
            <a:gdLst/>
            <a:ahLst/>
            <a:cxnLst/>
            <a:rect r="r" b="b" t="t" l="l"/>
            <a:pathLst>
              <a:path h="12241829" w="20837156">
                <a:moveTo>
                  <a:pt x="0" y="0"/>
                </a:moveTo>
                <a:lnTo>
                  <a:pt x="20837156" y="0"/>
                </a:lnTo>
                <a:lnTo>
                  <a:pt x="20837156" y="12241829"/>
                </a:lnTo>
                <a:lnTo>
                  <a:pt x="0" y="122418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66915" y="5143500"/>
            <a:ext cx="3740120" cy="2691300"/>
            <a:chOff x="0" y="0"/>
            <a:chExt cx="985052" cy="7088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5052" cy="708820"/>
            </a:xfrm>
            <a:custGeom>
              <a:avLst/>
              <a:gdLst/>
              <a:ahLst/>
              <a:cxnLst/>
              <a:rect r="r" b="b" t="t" l="l"/>
              <a:pathLst>
                <a:path h="708820" w="985052">
                  <a:moveTo>
                    <a:pt x="37259" y="0"/>
                  </a:moveTo>
                  <a:lnTo>
                    <a:pt x="947793" y="0"/>
                  </a:lnTo>
                  <a:cubicBezTo>
                    <a:pt x="968370" y="0"/>
                    <a:pt x="985052" y="16682"/>
                    <a:pt x="985052" y="37259"/>
                  </a:cubicBezTo>
                  <a:lnTo>
                    <a:pt x="985052" y="671560"/>
                  </a:lnTo>
                  <a:cubicBezTo>
                    <a:pt x="985052" y="692138"/>
                    <a:pt x="968370" y="708820"/>
                    <a:pt x="947793" y="708820"/>
                  </a:cubicBezTo>
                  <a:lnTo>
                    <a:pt x="37259" y="708820"/>
                  </a:lnTo>
                  <a:cubicBezTo>
                    <a:pt x="16682" y="708820"/>
                    <a:pt x="0" y="692138"/>
                    <a:pt x="0" y="671560"/>
                  </a:cubicBezTo>
                  <a:lnTo>
                    <a:pt x="0" y="37259"/>
                  </a:lnTo>
                  <a:cubicBezTo>
                    <a:pt x="0" y="16682"/>
                    <a:pt x="16682" y="0"/>
                    <a:pt x="37259" y="0"/>
                  </a:cubicBezTo>
                  <a:close/>
                </a:path>
              </a:pathLst>
            </a:custGeom>
            <a:solidFill>
              <a:srgbClr val="F7FEFF"/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985052" cy="680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821293" y="4641354"/>
            <a:ext cx="3740120" cy="4019441"/>
            <a:chOff x="0" y="0"/>
            <a:chExt cx="985052" cy="10586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85052" cy="1058618"/>
            </a:xfrm>
            <a:custGeom>
              <a:avLst/>
              <a:gdLst/>
              <a:ahLst/>
              <a:cxnLst/>
              <a:rect r="r" b="b" t="t" l="l"/>
              <a:pathLst>
                <a:path h="1058618" w="985052">
                  <a:moveTo>
                    <a:pt x="37259" y="0"/>
                  </a:moveTo>
                  <a:lnTo>
                    <a:pt x="947793" y="0"/>
                  </a:lnTo>
                  <a:cubicBezTo>
                    <a:pt x="968370" y="0"/>
                    <a:pt x="985052" y="16682"/>
                    <a:pt x="985052" y="37259"/>
                  </a:cubicBezTo>
                  <a:lnTo>
                    <a:pt x="985052" y="1021359"/>
                  </a:lnTo>
                  <a:cubicBezTo>
                    <a:pt x="985052" y="1041937"/>
                    <a:pt x="968370" y="1058618"/>
                    <a:pt x="947793" y="1058618"/>
                  </a:cubicBezTo>
                  <a:lnTo>
                    <a:pt x="37259" y="1058618"/>
                  </a:lnTo>
                  <a:cubicBezTo>
                    <a:pt x="16682" y="1058618"/>
                    <a:pt x="0" y="1041937"/>
                    <a:pt x="0" y="1021359"/>
                  </a:cubicBezTo>
                  <a:lnTo>
                    <a:pt x="0" y="37259"/>
                  </a:lnTo>
                  <a:cubicBezTo>
                    <a:pt x="0" y="16682"/>
                    <a:pt x="16682" y="0"/>
                    <a:pt x="37259" y="0"/>
                  </a:cubicBezTo>
                  <a:close/>
                </a:path>
              </a:pathLst>
            </a:custGeom>
            <a:solidFill>
              <a:srgbClr val="F7FEFF"/>
            </a:solidFill>
            <a:ln w="1905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985052" cy="1030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5400000">
            <a:off x="4340509" y="5968706"/>
            <a:ext cx="1451402" cy="1040887"/>
          </a:xfrm>
          <a:custGeom>
            <a:avLst/>
            <a:gdLst/>
            <a:ahLst/>
            <a:cxnLst/>
            <a:rect r="r" b="b" t="t" l="l"/>
            <a:pathLst>
              <a:path h="1040887" w="1451402">
                <a:moveTo>
                  <a:pt x="0" y="0"/>
                </a:moveTo>
                <a:lnTo>
                  <a:pt x="1451402" y="0"/>
                </a:lnTo>
                <a:lnTo>
                  <a:pt x="1451402" y="1040888"/>
                </a:lnTo>
                <a:lnTo>
                  <a:pt x="0" y="10408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95316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35491" y="1507490"/>
            <a:ext cx="8927797" cy="336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b="true" sz="8000" spc="-200">
                <a:solidFill>
                  <a:srgbClr val="068388"/>
                </a:solidFill>
                <a:latin typeface="Garet Bold"/>
                <a:ea typeface="Garet Bold"/>
                <a:cs typeface="Garet Bold"/>
                <a:sym typeface="Garet Bold"/>
              </a:rPr>
              <a:t>Overcoming a Major Obstacle</a:t>
            </a:r>
          </a:p>
          <a:p>
            <a:pPr algn="ctr">
              <a:lnSpc>
                <a:spcPts val="88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706312" y="5568811"/>
            <a:ext cx="3061326" cy="29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  <a:spcBef>
                <a:spcPct val="0"/>
              </a:spcBef>
            </a:pPr>
            <a:r>
              <a:rPr lang="en-US" b="true" sz="2299" spc="-5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</a:t>
            </a:r>
            <a:r>
              <a:rPr lang="en-US" b="true" sz="2299" spc="-5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HALLENGE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5491" y="5956510"/>
            <a:ext cx="3402969" cy="155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7"/>
              </a:lnSpc>
            </a:pPr>
            <a:r>
              <a:rPr lang="en-US" sz="1984" spc="-4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Sudden ha</a:t>
            </a:r>
            <a:r>
              <a:rPr lang="en-US" sz="1984" spc="-4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nd jerks caused servo overshoot and instability.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89869" y="5551880"/>
            <a:ext cx="3402969" cy="2644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7"/>
              </a:lnSpc>
            </a:pPr>
            <a:r>
              <a:rPr lang="en-US" sz="1984" spc="-4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Implemented a compleme</a:t>
            </a:r>
            <a:r>
              <a:rPr lang="en-US" sz="1984" spc="-4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ntary filter to smooth sensor readings,</a:t>
            </a:r>
          </a:p>
          <a:p>
            <a:pPr algn="ctr">
              <a:lnSpc>
                <a:spcPts val="4287"/>
              </a:lnSpc>
            </a:pPr>
            <a:r>
              <a:rPr lang="en-US" sz="1984" spc="-4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ensuring stable and responsive spoon motion.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60690" y="5076190"/>
            <a:ext cx="3061326" cy="29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  <a:spcBef>
                <a:spcPct val="0"/>
              </a:spcBef>
            </a:pPr>
            <a:r>
              <a:rPr lang="en-US" b="true" sz="2299" spc="-5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SO</a:t>
            </a:r>
            <a:r>
              <a:rPr lang="en-US" b="true" sz="2299" spc="-5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LUTION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822465" y="5098670"/>
            <a:ext cx="4664361" cy="3638201"/>
          </a:xfrm>
          <a:custGeom>
            <a:avLst/>
            <a:gdLst/>
            <a:ahLst/>
            <a:cxnLst/>
            <a:rect r="r" b="b" t="t" l="l"/>
            <a:pathLst>
              <a:path h="3638201" w="4664361">
                <a:moveTo>
                  <a:pt x="4664361" y="0"/>
                </a:moveTo>
                <a:lnTo>
                  <a:pt x="0" y="0"/>
                </a:lnTo>
                <a:lnTo>
                  <a:pt x="0" y="3638202"/>
                </a:lnTo>
                <a:lnTo>
                  <a:pt x="4664361" y="3638202"/>
                </a:lnTo>
                <a:lnTo>
                  <a:pt x="466436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46748" y="5035251"/>
            <a:ext cx="1103971" cy="1055672"/>
          </a:xfrm>
          <a:custGeom>
            <a:avLst/>
            <a:gdLst/>
            <a:ahLst/>
            <a:cxnLst/>
            <a:rect r="r" b="b" t="t" l="l"/>
            <a:pathLst>
              <a:path h="1055672" w="1103971">
                <a:moveTo>
                  <a:pt x="0" y="0"/>
                </a:moveTo>
                <a:lnTo>
                  <a:pt x="1103971" y="0"/>
                </a:lnTo>
                <a:lnTo>
                  <a:pt x="1103971" y="1055672"/>
                </a:lnTo>
                <a:lnTo>
                  <a:pt x="0" y="1055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03858" y="1028700"/>
            <a:ext cx="7200862" cy="8360943"/>
          </a:xfrm>
          <a:custGeom>
            <a:avLst/>
            <a:gdLst/>
            <a:ahLst/>
            <a:cxnLst/>
            <a:rect r="r" b="b" t="t" l="l"/>
            <a:pathLst>
              <a:path h="8360943" w="7200862">
                <a:moveTo>
                  <a:pt x="0" y="0"/>
                </a:moveTo>
                <a:lnTo>
                  <a:pt x="7200862" y="0"/>
                </a:lnTo>
                <a:lnTo>
                  <a:pt x="7200862" y="8360943"/>
                </a:lnTo>
                <a:lnTo>
                  <a:pt x="0" y="83609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67326" y="996954"/>
            <a:ext cx="8232279" cy="336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spc="-200" b="true">
                <a:solidFill>
                  <a:srgbClr val="068388"/>
                </a:solidFill>
                <a:latin typeface="Garet Bold"/>
                <a:ea typeface="Garet Bold"/>
                <a:cs typeface="Garet Bold"/>
                <a:sym typeface="Garet Bold"/>
              </a:rPr>
              <a:t>To enhance the design, we plan to: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85274" y="1526686"/>
            <a:ext cx="4457435" cy="74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8"/>
              </a:lnSpc>
            </a:pPr>
            <a:r>
              <a:rPr lang="en-US" sz="2018" spc="-5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Replace S</a:t>
            </a:r>
            <a:r>
              <a:rPr lang="en-US" sz="2018" spc="-5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G90 servos with MG90S for faster response.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28905" y="3642520"/>
            <a:ext cx="4298712" cy="109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4"/>
              </a:lnSpc>
            </a:pPr>
            <a:r>
              <a:rPr lang="en-US" sz="1969" spc="-4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Explore DC or </a:t>
            </a:r>
            <a:r>
              <a:rPr lang="en-US" sz="1969" spc="-4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stepper motors for precision.</a:t>
            </a:r>
          </a:p>
          <a:p>
            <a:pPr algn="l">
              <a:lnSpc>
                <a:spcPts val="295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746770" y="5923169"/>
            <a:ext cx="4395939" cy="34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4"/>
              </a:lnSpc>
            </a:pPr>
            <a:r>
              <a:rPr lang="en-US" sz="1969" spc="-4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Reduce the </a:t>
            </a:r>
            <a:r>
              <a:rPr lang="en-US" sz="1969" spc="-4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size for better comfort.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13849" y="7623480"/>
            <a:ext cx="4298712" cy="131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2"/>
              </a:lnSpc>
            </a:pPr>
            <a:r>
              <a:rPr lang="en-US" sz="1781" spc="-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Switch from a b</a:t>
            </a:r>
            <a:r>
              <a:rPr lang="en-US" sz="1781" spc="-4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ulky 3.7V 800mAh Lipo Battery to a more light weight and small one, making the device  user-friendly.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B7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57244" y="5156350"/>
            <a:ext cx="5359422" cy="5118248"/>
          </a:xfrm>
          <a:custGeom>
            <a:avLst/>
            <a:gdLst/>
            <a:ahLst/>
            <a:cxnLst/>
            <a:rect r="r" b="b" t="t" l="l"/>
            <a:pathLst>
              <a:path h="5118248" w="5359422">
                <a:moveTo>
                  <a:pt x="0" y="0"/>
                </a:moveTo>
                <a:lnTo>
                  <a:pt x="5359422" y="0"/>
                </a:lnTo>
                <a:lnTo>
                  <a:pt x="5359422" y="5118248"/>
                </a:lnTo>
                <a:lnTo>
                  <a:pt x="0" y="5118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6069086"/>
            <a:ext cx="7158419" cy="4742452"/>
          </a:xfrm>
          <a:custGeom>
            <a:avLst/>
            <a:gdLst/>
            <a:ahLst/>
            <a:cxnLst/>
            <a:rect r="r" b="b" t="t" l="l"/>
            <a:pathLst>
              <a:path h="4742452" w="7158419">
                <a:moveTo>
                  <a:pt x="7158419" y="0"/>
                </a:moveTo>
                <a:lnTo>
                  <a:pt x="0" y="0"/>
                </a:lnTo>
                <a:lnTo>
                  <a:pt x="0" y="4742452"/>
                </a:lnTo>
                <a:lnTo>
                  <a:pt x="7158419" y="4742452"/>
                </a:lnTo>
                <a:lnTo>
                  <a:pt x="7158419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740663"/>
            <a:ext cx="2291449" cy="2314595"/>
          </a:xfrm>
          <a:custGeom>
            <a:avLst/>
            <a:gdLst/>
            <a:ahLst/>
            <a:cxnLst/>
            <a:rect r="r" b="b" t="t" l="l"/>
            <a:pathLst>
              <a:path h="2314595" w="2291449">
                <a:moveTo>
                  <a:pt x="0" y="0"/>
                </a:moveTo>
                <a:lnTo>
                  <a:pt x="2291449" y="0"/>
                </a:lnTo>
                <a:lnTo>
                  <a:pt x="2291449" y="2314595"/>
                </a:lnTo>
                <a:lnTo>
                  <a:pt x="0" y="23145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06949" y="2595268"/>
            <a:ext cx="12274102" cy="1924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50"/>
              </a:lnSpc>
            </a:pPr>
            <a:r>
              <a:rPr lang="en-US" b="true" sz="15500" spc="-38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About 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13078" y="4347385"/>
            <a:ext cx="8261844" cy="229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600" spc="-6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Hiran Dharmapala</a:t>
            </a:r>
          </a:p>
          <a:p>
            <a:pPr algn="ctr">
              <a:lnSpc>
                <a:spcPts val="2600"/>
              </a:lnSpc>
            </a:pPr>
            <a:r>
              <a:rPr lang="en-US" b="true" sz="2600" spc="-6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Nimesha Nanayakkara</a:t>
            </a:r>
          </a:p>
          <a:p>
            <a:pPr algn="ctr">
              <a:lnSpc>
                <a:spcPts val="2600"/>
              </a:lnSpc>
            </a:pPr>
            <a:r>
              <a:rPr lang="en-US" b="true" sz="2600" spc="-6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Lasindu Viduranga</a:t>
            </a:r>
          </a:p>
          <a:p>
            <a:pPr algn="ctr">
              <a:lnSpc>
                <a:spcPts val="2600"/>
              </a:lnSpc>
            </a:pPr>
          </a:p>
          <a:p>
            <a:pPr algn="ctr">
              <a:lnSpc>
                <a:spcPts val="2600"/>
              </a:lnSpc>
            </a:pPr>
            <a:r>
              <a:rPr lang="en-US" b="true" sz="2600" spc="-6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Institution:</a:t>
            </a:r>
          </a:p>
          <a:p>
            <a:pPr algn="ctr">
              <a:lnSpc>
                <a:spcPts val="2600"/>
              </a:lnSpc>
            </a:pPr>
            <a:r>
              <a:rPr lang="en-US" b="true" sz="2600" spc="-6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University of Sri Jayewardenepura, Sri Lanka</a:t>
            </a:r>
          </a:p>
          <a:p>
            <a:pPr algn="ctr">
              <a:lnSpc>
                <a:spcPts val="26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966747" y="7131696"/>
            <a:ext cx="8756385" cy="162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1800" spc="-4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We’re proud to offer a low-cost innovation to assist those affected by Parkinson’s.</a:t>
            </a:r>
          </a:p>
          <a:p>
            <a:pPr algn="ctr">
              <a:lnSpc>
                <a:spcPts val="3060"/>
              </a:lnSpc>
            </a:pPr>
            <a:r>
              <a:rPr lang="en-US" sz="1800" spc="-4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Engineering with purpose.</a:t>
            </a:r>
          </a:p>
          <a:p>
            <a:pPr algn="ctr">
              <a:lnSpc>
                <a:spcPts val="4249"/>
              </a:lnSpc>
            </a:pPr>
            <a:r>
              <a:rPr lang="en-US" b="true" sz="2499" spc="-6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“WEMAKEIT”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DAGt7xj6JkM</dc:identifier>
  <dcterms:modified xsi:type="dcterms:W3CDTF">2011-08-01T06:04:30Z</dcterms:modified>
  <cp:revision>1</cp:revision>
  <dc:title>IEEE arduino challenge</dc:title>
</cp:coreProperties>
</file>